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dc5eb8ad95a47ab" /><Relationship Type="http://schemas.openxmlformats.org/officeDocument/2006/relationships/extended-properties" Target="/docProps/app.xml" Id="Rd50333f239964d67" /><Relationship Type="http://schemas.openxmlformats.org/officeDocument/2006/relationships/officeDocument" Target="/ppt/presentation.xml" Id="R3ae4a4f7cd24474f" /></Relationships>
</file>

<file path=ppt/presentation.xml><?xml version="1.0" encoding="utf-8"?>
<p:presentation xmlns:p="http://schemas.openxmlformats.org/presentationml/2006/main">
  <p:sldMasterIdLst>
    <p:sldMasterId xmlns:r="http://schemas.openxmlformats.org/officeDocument/2006/relationships" id="2147483648" r:id="R9279a7988a9a42ea"/>
  </p:sldMasterIdLst>
  <p:notesMasterIdLst>
    <p:notesMasterId xmlns:r="http://schemas.openxmlformats.org/officeDocument/2006/relationships" r:id="Rb6118d564f9246d9"/>
  </p:notesMasterIdLst>
  <p:sldIdLst>
    <p:sldId xmlns:r="http://schemas.openxmlformats.org/officeDocument/2006/relationships" id="256" r:id="R48e511369e414aaa"/>
    <p:sldId xmlns:r="http://schemas.openxmlformats.org/officeDocument/2006/relationships" id="257" r:id="R941fc75b79e341dc"/>
    <p:sldId xmlns:r="http://schemas.openxmlformats.org/officeDocument/2006/relationships" id="258" r:id="R5b00d879587347b4"/>
    <p:sldId xmlns:r="http://schemas.openxmlformats.org/officeDocument/2006/relationships" id="259" r:id="R2aeee9927e894c41"/>
    <p:sldId xmlns:r="http://schemas.openxmlformats.org/officeDocument/2006/relationships" id="260" r:id="Rbfa90d95475649f6"/>
    <p:sldId xmlns:r="http://schemas.openxmlformats.org/officeDocument/2006/relationships" id="261" r:id="R65585889b1d34aac"/>
    <p:sldId xmlns:r="http://schemas.openxmlformats.org/officeDocument/2006/relationships" id="262" r:id="R69ccd5563afa45ee"/>
    <p:sldId xmlns:r="http://schemas.openxmlformats.org/officeDocument/2006/relationships" id="263" r:id="R6dda2acb2c754abe"/>
    <p:sldId xmlns:r="http://schemas.openxmlformats.org/officeDocument/2006/relationships" id="264" r:id="R880ef9a49a5a4e3f"/>
    <p:sldId xmlns:r="http://schemas.openxmlformats.org/officeDocument/2006/relationships" id="265" r:id="R987931140b934d5e"/>
    <p:sldId xmlns:r="http://schemas.openxmlformats.org/officeDocument/2006/relationships" id="266" r:id="R5bec70aea4f94370"/>
    <p:sldId xmlns:r="http://schemas.openxmlformats.org/officeDocument/2006/relationships" id="267" r:id="R73ff1a00e2a14518"/>
    <p:sldId xmlns:r="http://schemas.openxmlformats.org/officeDocument/2006/relationships" id="268" r:id="R0225f3e62e254021"/>
    <p:sldId xmlns:r="http://schemas.openxmlformats.org/officeDocument/2006/relationships" id="269" r:id="Re5ddd26f283a460c"/>
    <p:sldId xmlns:r="http://schemas.openxmlformats.org/officeDocument/2006/relationships" id="270" r:id="Rb4f5698244f04c8b"/>
    <p:sldId xmlns:r="http://schemas.openxmlformats.org/officeDocument/2006/relationships" id="271" r:id="R770ab10dbac14ad5"/>
    <p:sldId xmlns:r="http://schemas.openxmlformats.org/officeDocument/2006/relationships" id="272" r:id="R4643c6363c7d49be"/>
    <p:sldId xmlns:r="http://schemas.openxmlformats.org/officeDocument/2006/relationships" id="273" r:id="R67e60731341243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49dd57f07d4a56" /><Relationship Type="http://schemas.openxmlformats.org/officeDocument/2006/relationships/slideMaster" Target="/ppt/slideMasters/slideMaster1.xml" Id="R9279a7988a9a42ea" /><Relationship Type="http://schemas.openxmlformats.org/officeDocument/2006/relationships/notesMaster" Target="/ppt/notesMasters/notesMaster1.xml" Id="Rb6118d564f9246d9" /><Relationship Type="http://schemas.openxmlformats.org/officeDocument/2006/relationships/presProps" Target="/ppt/presProps.xml" Id="Rc6d845418a474855" /><Relationship Type="http://schemas.openxmlformats.org/officeDocument/2006/relationships/tableStyles" Target="/ppt/tableStyles.xml" Id="R6d30f1ccd9c848db" /><Relationship Type="http://schemas.openxmlformats.org/officeDocument/2006/relationships/slide" Target="/ppt/slides/slide1.xml" Id="R48e511369e414aaa" /><Relationship Type="http://schemas.openxmlformats.org/officeDocument/2006/relationships/slide" Target="/ppt/slides/slide2.xml" Id="R941fc75b79e341dc" /><Relationship Type="http://schemas.openxmlformats.org/officeDocument/2006/relationships/slide" Target="/ppt/slides/slide3.xml" Id="R5b00d879587347b4" /><Relationship Type="http://schemas.openxmlformats.org/officeDocument/2006/relationships/slide" Target="/ppt/slides/slide4.xml" Id="R2aeee9927e894c41" /><Relationship Type="http://schemas.openxmlformats.org/officeDocument/2006/relationships/slide" Target="/ppt/slides/slide5.xml" Id="Rbfa90d95475649f6" /><Relationship Type="http://schemas.openxmlformats.org/officeDocument/2006/relationships/slide" Target="/ppt/slides/slide6.xml" Id="R65585889b1d34aac" /><Relationship Type="http://schemas.openxmlformats.org/officeDocument/2006/relationships/slide" Target="/ppt/slides/slide7.xml" Id="R69ccd5563afa45ee" /><Relationship Type="http://schemas.openxmlformats.org/officeDocument/2006/relationships/slide" Target="/ppt/slides/slide8.xml" Id="R6dda2acb2c754abe" /><Relationship Type="http://schemas.openxmlformats.org/officeDocument/2006/relationships/slide" Target="/ppt/slides/slide9.xml" Id="R880ef9a49a5a4e3f" /><Relationship Type="http://schemas.openxmlformats.org/officeDocument/2006/relationships/slide" Target="/ppt/slides/slide10.xml" Id="R987931140b934d5e" /><Relationship Type="http://schemas.openxmlformats.org/officeDocument/2006/relationships/slide" Target="/ppt/slides/slide11.xml" Id="R5bec70aea4f94370" /><Relationship Type="http://schemas.openxmlformats.org/officeDocument/2006/relationships/slide" Target="/ppt/slides/slide12.xml" Id="R73ff1a00e2a14518" /><Relationship Type="http://schemas.openxmlformats.org/officeDocument/2006/relationships/slide" Target="/ppt/slides/slide13.xml" Id="R0225f3e62e254021" /><Relationship Type="http://schemas.openxmlformats.org/officeDocument/2006/relationships/slide" Target="/ppt/slides/slide14.xml" Id="Re5ddd26f283a460c" /><Relationship Type="http://schemas.openxmlformats.org/officeDocument/2006/relationships/slide" Target="/ppt/slides/slide15.xml" Id="Rb4f5698244f04c8b" /><Relationship Type="http://schemas.openxmlformats.org/officeDocument/2006/relationships/slide" Target="/ppt/slides/slide16.xml" Id="R770ab10dbac14ad5" /><Relationship Type="http://schemas.openxmlformats.org/officeDocument/2006/relationships/slide" Target="/ppt/slides/slide17.xml" Id="R4643c6363c7d49be" /><Relationship Type="http://schemas.openxmlformats.org/officeDocument/2006/relationships/slide" Target="/ppt/slides/slide18.xml" Id="R67e60731341243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014d9bd98741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10408d0edc4d96" /><Relationship Type="http://schemas.openxmlformats.org/officeDocument/2006/relationships/notesMaster" Target="/ppt/notesMasters/notesMaster1.xml" Id="Rf13a73910bbe45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d7350537894b83" /><Relationship Type="http://schemas.openxmlformats.org/officeDocument/2006/relationships/notesMaster" Target="/ppt/notesMasters/notesMaster1.xml" Id="Rd8223a174ce84f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8bbb0f5203414a" /><Relationship Type="http://schemas.openxmlformats.org/officeDocument/2006/relationships/notesMaster" Target="/ppt/notesMasters/notesMaster1.xml" Id="Ra72c878269a84f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f768babceb4a64" /><Relationship Type="http://schemas.openxmlformats.org/officeDocument/2006/relationships/notesMaster" Target="/ppt/notesMasters/notesMaster1.xml" Id="R8b643b75b37945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6fd14d5e0d4d81" /><Relationship Type="http://schemas.openxmlformats.org/officeDocument/2006/relationships/notesMaster" Target="/ppt/notesMasters/notesMaster1.xml" Id="Rdb3133596d474b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30de0547044d27" /><Relationship Type="http://schemas.openxmlformats.org/officeDocument/2006/relationships/notesMaster" Target="/ppt/notesMasters/notesMaster1.xml" Id="R0da1b5561ea640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39c72421e34c7f" /><Relationship Type="http://schemas.openxmlformats.org/officeDocument/2006/relationships/notesMaster" Target="/ppt/notesMasters/notesMaster1.xml" Id="R01cb755260ab47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f394522e5f4361" /><Relationship Type="http://schemas.openxmlformats.org/officeDocument/2006/relationships/notesMaster" Target="/ppt/notesMasters/notesMaster1.xml" Id="R6608c8eaae9048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50e80847174030" /><Relationship Type="http://schemas.openxmlformats.org/officeDocument/2006/relationships/notesMaster" Target="/ppt/notesMasters/notesMaster1.xml" Id="R7daa52390fa04b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59baa64b374e9c" /><Relationship Type="http://schemas.openxmlformats.org/officeDocument/2006/relationships/notesMaster" Target="/ppt/notesMasters/notesMaster1.xml" Id="R2af6d4684d0b40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f7c109fb0e43b1" /><Relationship Type="http://schemas.openxmlformats.org/officeDocument/2006/relationships/notesMaster" Target="/ppt/notesMasters/notesMaster1.xml" Id="R4642a65dd66f41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2e7bcba1594a95" /><Relationship Type="http://schemas.openxmlformats.org/officeDocument/2006/relationships/notesMaster" Target="/ppt/notesMasters/notesMaster1.xml" Id="R5d8f3102cf9d49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dd3f9ed76b04b96" /><Relationship Type="http://schemas.openxmlformats.org/officeDocument/2006/relationships/notesMaster" Target="/ppt/notesMasters/notesMaster1.xml" Id="Ra797a7d9517a491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b33119259c480f" /><Relationship Type="http://schemas.openxmlformats.org/officeDocument/2006/relationships/notesMaster" Target="/ppt/notesMasters/notesMaster1.xml" Id="Rc04722ca3e7347a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54dcdcd64b4aef" /><Relationship Type="http://schemas.openxmlformats.org/officeDocument/2006/relationships/notesMaster" Target="/ppt/notesMasters/notesMaster1.xml" Id="Re7c1b405b32b48a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01a8635569f41dc" /><Relationship Type="http://schemas.openxmlformats.org/officeDocument/2006/relationships/notesMaster" Target="/ppt/notesMasters/notesMaster1.xml" Id="R0e208dd3676247c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4e01eee5b974d01" /><Relationship Type="http://schemas.openxmlformats.org/officeDocument/2006/relationships/notesMaster" Target="/ppt/notesMasters/notesMaster1.xml" Id="R594736879498466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418a93c102469d" /><Relationship Type="http://schemas.openxmlformats.org/officeDocument/2006/relationships/notesMaster" Target="/ppt/notesMasters/notesMaster1.xml" Id="R941c6d573c594a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tài dự báo số yêu cầu đặt chuyến theo H3 level 7 cho Car và Motorcycle. Phạm vi thực nghiệm hiện tại là dữ liệu giả lập tại TP HCM. Nội dung tổng hợp báo cáo tuần 1–4, notebook hieuchinh (1).ipynb và source demand_forecasting(2).zip. Không trình bày đây là kết quả sản xuất trên dữ liệu GSM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Tại T, dự báo tổng demand [T,T+H) theo hex và mode. Mục tiêu hỗ trợ chuẩn bị nguồn cung, chưa triển khai hay đo tác động của thuật toán điều phối tài xế. Một dòng là hex–thời điểm, không phải một chuyến.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Dữ liệu từ 01/05 đến hết 10/09/2026. 5.404.530 dòng gồm Car 2.863.718 và Motorcycle 2.540.812. Dòng là bucket theo hex/mode. Bộ sinh có khác biệt không gian, giờ, thứ, mưa, sự kiện, promotion và nhiễu. Không suy diễn thành hành vi người dùng GSM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 trước 16/07 09:40, validation đến trước 15/08 09:40, TEST từ đó đến hết 10/09, giờ Việt Nam. Purge nhãn vượt ranh giới. Search trên validation. Tuần 3 model mới refit TRAIN+validation hợp lệ. Tuần 4 train_only dùng hyperparameter khóa. TEST không dùng fit nhưng đã xem diagnostics để định hướng, nên lần xác nhận mới cần giai đoạn giữ lại mới.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Thử nghiệm feature trên validation: nền đối chứng → lag 10/20 phút cùng mean/delta → thêm neighbor. H10 lân cận xấu hơn nhẹ. H30/H60 cải thiện thêm nhỏ, ví dụ Motorcycle H30 chỉ 0,008 pp. Chọn 25 feature H10 và 33 H30/H60, không coi lợi ích nhỏ là đã ổn định trên mọi giai đoạn. Bucket T−10 phải đóng và ingest trước 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WMAPE TEST trước/sau: Car 15,64/11,459; 16,32/11,223; 19,78/14,127. Motorcycle 14,66/11,014;15,42/10,603;18,93/13,381. Giảm 3,646–5,653 pp, tương đối 24,87–31,24%. Số dòng và tổng actual khớp nhưng hậu xử lý khác, nên mức giảm không chỉ quy cho feature. Cần đối chứng cùng postprocessing.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sánh trung bình tổng nhãn bảy ngày cuối với bảy ngày đầu TEST. Car H60 actual tăng 36,212% prediction tăng32,796%, thiếu 3,417pp theo độ chính xác gốc. Fixed panel chỉ giữ hex-slot đủ các ngày vẫn thiếu biên độ. Không coi mức tăng là tăng trưởng thị trường, không cộng H30/H60 thành booking duy nhất.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Đổi actual giữa hai T liên tiếp 10 phút cùng hex phải ≥5×H/10 yêu cầu và ≥30% so max(actual trước,1). WMAPE nhóm tăng và giảm theo biểu đồ. Tất cả model thiếu khi tăng và dư khi giảm. H10 đúng chiều khoảng 49–50%. H30/H60 thường đúng chiều hơn nhưng biên độ yếu. Chưa đo độ trễ phản ứng bằng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Dự đoán toàn TEST trước khi lọc actual &gt;30. Đơn vị dòng hex-thời điểm. H30/H60 cộng nhiều bucket nên có nhiều dòng &gt;30 hơn, không phải nhiều hex hơn do horizon. Trong ±15% là tỷ lệ dòng, không bằng 100−WMAPE. Sáu dòng dữ liệu chính xác lấy từ output đã lưu. Không coi đây là đo trực tiếp model serving refit TRAIN+VAL.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lần dư/thiếu lệch trung bình riêng khoảng 11–17% trong khi bias tổng nhỏ. Car H30 hex 8765b5666ffffff bias −4,518%; 8765b5641ffffff +0,471%;8765b5640ffffff +1,890%, mỗi nhóm 27 ngày trên actual&gt;30. Bù tăng cố định dễ làm dòng dư xấu hơn. Hiệu chỉnh chỉ fit trên TRAIN/VAL và đánh giá tập mới cùng dòng. Không kết luận mọi hiệu chỉnh đều vô ích.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serving ingest/backfill fake bucket vừa đóng, dựng feature, predict sáu model active và lưu. Retrain lúc02:00 thứ Hai giờ VN. Artifact giữ mapping hex, schema và config. Benchmark lịch sử khác rolling; rolling tối đa90train/30val/30test. Gate demo mọi TEST WMAPE≤30% và đủ6 artifact, không là production gate. Monitoring không tự retrain; lịch retrain độc lập.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đo missing và freshness, không phải ingestion lag vì thiếu ingested_at. Performance WMAPE,bias,coverage; distribution PSI và ngoài range. Monitor 8001 chọn cửa sổ chi tiết, Prometheus 9090 scrape/alerts, Grafana3000 lịch sử. Grafana giá trị từ cửa sổ tại thời điểm scrape, không metric tức thời mỗi30giây.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lúc 05:00, hệ thống chấm các dự báo có T trong [03:00, 04:00). Mỗi dòng cần đủ H/10 bucket actual và phải qua thời điểm T+H+120 giây. Prediction phát hành trễ quá dung sai hoặc sau khi target kết thúc bị loại và đếm riêng. Actual thiếu không được thay bằng 0. Hệ thống chấm lại 48 giờ gần nhất để nhận actual bổ sung. Cần kiểm tra cả số mốc dự báo, không chỉ actual trên các dòng còn lại. Nguồn: MONITORING.md.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Snapshot ngày 09/10 có ba khung 09–10h, 10–11h và 11–12h. WMAPE nằm trong khoảng 10,799–15,293%. Car H60 tăng qua ba khung nên cần theo dõi thêm. Từ khung 10–11h sang 11–12h, actual Car H10 giảm 22,84% và prediction giảm 24,56%. Đây là tổng trên phần được chấm, chưa chứng minh khả năng bắt shock tại từng hex. Ba khung chưa đủ để kết luận ổn định dài hạn. Nguồn: báo cáo tuần 4 mục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model có 217 hex nhân 6 mốc, bằng 1.302 dòng dự báo trong một giờ. Car có 876 dòng đủ actual và 426 dòng thiếu. Motorcycle có 768 dòng đủ actual và 534 dòng thiếu. Coverage tương ứng 67,281% và 58,986%. Số dòng có actual bằng 146 hoặc 128 hex hoạt động nhân 6 mốc, phù hợp với phạm vi bộ sinh. Cần đối chiếu từng hex và bucket trước khi quy missing thành sự cố. Nguồn: báo cáo tuần 4 mục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là prediction của final model trên phần TRAIN+validation đã purge dùng fit. Serving lấy prediction 24 giờ gần nhất, so sánh đúng version và bins. Snapshot H10 trước đó có PSI Car 0,798 và Motorcycle 0,785, trong khi ngoài range bằng 0%. p50 fit là 4 và 6, p50 serving là 1 và 2. Snapshot này khác version với bảng performance 09–12h nên không ghép thành phép đo đồng thời. Cửa sổ truy vấn 24 giờ chưa bảo đảm có đủ 24 giờ dữ liệu. Nguồn: MONITORING.md và báo cáo tuần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Giữ sáu mô hình direct, bộ feature 25/33 và chưa áp dụng hiệu chỉnh. Đã cải thiện metric offline trên dữ liệu giả lập và xây monitoring, nhưng chưa đủ bằng chứng production. Báo cáo tuần 4 ghi nhận 105 PASS và 1 XFAIL. Ca G01 còn thiếu điều kiện đủ mốc: cửa sổ 4/6 mốc có thể vẫn đủ điều kiện performance nếu actual các dòng còn lại đầy đủ. Chưa kiểm chứng đầy đủ vòng pending, firing, resolved và chưa chạy liên tục 24–48 giờ. Đây là kết quả kế thừa từ biên bản, không phải lượt test mới.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Báo cáo tuần 1–2 cung cấp bài toán và dữ liệu. Báo cáo tuần 3 bản 07/10 cung cấp đối chứng mô hình và trend/shock. Báo cáo tuần 4 bản 09/10 cung cấp snapshot monitoring và kiểm thử. Notebook hieuchinh (1).ipynb được đối chiếu trực tiếp cell 16 về TRAIN_ONLY và cell 18/20 về actual &gt;30. Source zip cung cấp DAG và cấu hình monitoring. Khi trình bày cần giữ đúng phạm vi dữ liệu và model version. Ảnh dashboard mới có thể bổ sung để minh họa trạng thái vận hành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bae45e2d864e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f4cbbc047c4f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704e64d9bfb48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d3c01bf1d649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5567c8bb4347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fb5e01847448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0603FC-1159-4627-A379-F28A0920764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05D437-9F7B-43F7-A233-F2DFA3B017D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0998E6-21D9-4514-920D-A4472F495E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AEBBAF-ADBF-46A6-89CD-1346255DEF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DE4845-CF15-44A3-A2C4-A0B3911D0F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8B03AA-FA58-4BD0-A25F-7030E6458B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9CA2EF5-54B5-46D1-BBE3-14D1412D92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1CDE514-DFB3-4BAD-92E0-0545435981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662E21-E07D-49CC-9CDD-004ABB57D0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45B02B-8C31-4CA3-9F16-692EF3898EB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14449defd04db0" /><Relationship Type="http://schemas.openxmlformats.org/officeDocument/2006/relationships/slideLayout" Target="/ppt/slideLayouts/slideLayout1.xml" Id="Rb705024fbcc946c9" /><Relationship Type="http://schemas.openxmlformats.org/officeDocument/2006/relationships/slideLayout" Target="/ppt/slideLayouts/slideLayout2.xml" Id="R53b6d4e9f9564744" /><Relationship Type="http://schemas.openxmlformats.org/officeDocument/2006/relationships/slideLayout" Target="/ppt/slideLayouts/slideLayout3.xml" Id="Read59fe453dd4262" /><Relationship Type="http://schemas.openxmlformats.org/officeDocument/2006/relationships/slideLayout" Target="/ppt/slideLayouts/slideLayout4.xml" Id="R11a70f99bf26465c" /><Relationship Type="http://schemas.openxmlformats.org/officeDocument/2006/relationships/slideLayout" Target="/ppt/slideLayouts/slideLayout5.xml" Id="Rc4ffcb8bddaf439b" /><Relationship Type="http://schemas.openxmlformats.org/officeDocument/2006/relationships/slideLayout" Target="/ppt/slideLayouts/slideLayout6.xml" Id="R6cebafe33b814e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05024fbcc946c9"/>
    <p:sldLayoutId xmlns:r="http://schemas.openxmlformats.org/officeDocument/2006/relationships" id="2147483650" r:id="R53b6d4e9f9564744"/>
    <p:sldLayoutId xmlns:r="http://schemas.openxmlformats.org/officeDocument/2006/relationships" id="2147483651" r:id="Read59fe453dd4262"/>
    <p:sldLayoutId xmlns:r="http://schemas.openxmlformats.org/officeDocument/2006/relationships" id="2147483652" r:id="R11a70f99bf26465c"/>
    <p:sldLayoutId xmlns:r="http://schemas.openxmlformats.org/officeDocument/2006/relationships" id="2147483653" r:id="Rc4ffcb8bddaf439b"/>
    <p:sldLayoutId xmlns:r="http://schemas.openxmlformats.org/officeDocument/2006/relationships" id="2147483654" r:id="R6cebafe33b814e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28f7d2311b4eac" /><Relationship Type="http://schemas.openxmlformats.org/officeDocument/2006/relationships/notesSlide" Target="/ppt/notesSlides/notesSlide1.xml" Id="R2fa681af6b5343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ec9ee3d3504912" /><Relationship Type="http://schemas.openxmlformats.org/officeDocument/2006/relationships/notesSlide" Target="/ppt/notesSlides/notesSlide2.xml" Id="R3c7acc75c2c148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dc3f8d06934423d" /><Relationship Type="http://schemas.openxmlformats.org/officeDocument/2006/relationships/notesSlide" Target="/ppt/notesSlides/notesSlide3.xml" Id="Rca56248f8f2746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524e600a575420e" /><Relationship Type="http://schemas.openxmlformats.org/officeDocument/2006/relationships/notesSlide" Target="/ppt/notesSlides/notesSlide4.xml" Id="R1f6af8901af842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262611ed3f4c39" /><Relationship Type="http://schemas.openxmlformats.org/officeDocument/2006/relationships/notesSlide" Target="/ppt/notesSlides/notesSlide5.xml" Id="Rd924ebddc0e649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be90949a7de4744" /><Relationship Type="http://schemas.openxmlformats.org/officeDocument/2006/relationships/chart" Target="/ppt/slides/charts/chart1.xml" Id="Ra17ca903f5994e84" /><Relationship Type="http://schemas.openxmlformats.org/officeDocument/2006/relationships/notesSlide" Target="/ppt/notesSlides/notesSlide6.xml" Id="R89ff667437424b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8eff08f3d9a49c6" /><Relationship Type="http://schemas.openxmlformats.org/officeDocument/2006/relationships/chart" Target="/ppt/slides/charts/chart2.xml" Id="Rb49d730327d34526" /><Relationship Type="http://schemas.openxmlformats.org/officeDocument/2006/relationships/notesSlide" Target="/ppt/notesSlides/notesSlide7.xml" Id="Rc90bb6f6dcfc4b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5e1a1f2879a4ce6" /><Relationship Type="http://schemas.openxmlformats.org/officeDocument/2006/relationships/chart" Target="/ppt/slides/charts/chart3.xml" Id="Rd65eddc42f60485e" /><Relationship Type="http://schemas.openxmlformats.org/officeDocument/2006/relationships/notesSlide" Target="/ppt/notesSlides/notesSlide8.xml" Id="R39917828fa734f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c28a589a41540f1" /><Relationship Type="http://schemas.openxmlformats.org/officeDocument/2006/relationships/notesSlide" Target="/ppt/notesSlides/notesSlide9.xml" Id="Ra699a087625d4f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10171c6d9c94ae2" /><Relationship Type="http://schemas.openxmlformats.org/officeDocument/2006/relationships/notesSlide" Target="/ppt/notesSlides/notesSlide10.xml" Id="R5f023073811d4a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ab59458b04b4e27" /><Relationship Type="http://schemas.openxmlformats.org/officeDocument/2006/relationships/notesSlide" Target="/ppt/notesSlides/notesSlide11.xml" Id="Rae7e76ce406546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2cc2f8d9ce54ac6" /><Relationship Type="http://schemas.openxmlformats.org/officeDocument/2006/relationships/notesSlide" Target="/ppt/notesSlides/notesSlide12.xml" Id="R68f2654b1e1547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cb56380b0d2463c" /><Relationship Type="http://schemas.openxmlformats.org/officeDocument/2006/relationships/notesSlide" Target="/ppt/notesSlides/notesSlide13.xml" Id="Rb8586a12f37b41a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571a218f1ce474d" /><Relationship Type="http://schemas.openxmlformats.org/officeDocument/2006/relationships/notesSlide" Target="/ppt/notesSlides/notesSlide14.xml" Id="Ree1173bda31241e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515be4631a24b19" /><Relationship Type="http://schemas.openxmlformats.org/officeDocument/2006/relationships/chart" Target="/ppt/slides/charts/chart4.xml" Id="Rdee4441b42e149db" /><Relationship Type="http://schemas.openxmlformats.org/officeDocument/2006/relationships/notesSlide" Target="/ppt/notesSlides/notesSlide15.xml" Id="R380f563f43614f9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13a9e3aceb548bd" /><Relationship Type="http://schemas.openxmlformats.org/officeDocument/2006/relationships/notesSlide" Target="/ppt/notesSlides/notesSlide16.xml" Id="Rcb652fa762e54d9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1eea6578ef04b05" /><Relationship Type="http://schemas.openxmlformats.org/officeDocument/2006/relationships/notesSlide" Target="/ppt/notesSlides/notesSlide17.xml" Id="Rf8303b457e314d6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77ffcc6109e4353" /><Relationship Type="http://schemas.openxmlformats.org/officeDocument/2006/relationships/notesSlide" Target="/ppt/notesSlides/notesSlide18.xml" Id="R4d69e86fc255419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Trước cập nhật</c:v>
          </c:tx>
          <c:spPr>
            <a:solidFill xmlns:a="http://schemas.openxmlformats.org/drawingml/2006/main">
              <a:srgbClr val="AAB6BD"/>
            </a:solidFill>
            <a:ln xmlns:a="http://schemas.openxmlformats.org/drawingml/2006/main" w="28575">
              <a:solidFill>
                <a:srgbClr val="AAB6BD"/>
              </a:solidFill>
            </a:ln>
          </c:spPr>
          <c:cat>
            <c:strRef>
              <c:f>'Chart Data'!$A$2:$A$7</c:f>
              <c:strCache>
                <c:ptCount val="6"/>
                <c:pt idx="0">
                  <c:v>Car H10</c:v>
                </c:pt>
                <c:pt idx="1">
                  <c:v>Car H30</c:v>
                </c:pt>
                <c:pt idx="2">
                  <c:v>Car H60</c:v>
                </c:pt>
                <c:pt idx="3">
                  <c:v>Moto H10</c:v>
                </c:pt>
                <c:pt idx="4">
                  <c:v>Moto H30</c:v>
                </c:pt>
                <c:pt idx="5">
                  <c:v>Moto H60</c:v>
                </c:pt>
              </c:strCache>
            </c:strRef>
          </c:cat>
          <c:val>
            <c:numRef>
              <c:f>'Chart Data'!$B$2:$B$7</c:f>
              <c:numCache>
                <c:formatCode>0.0"%"</c:formatCode>
                <c:ptCount val="6"/>
                <c:pt idx="0">
                  <c:v>15.64</c:v>
                </c:pt>
                <c:pt idx="1">
                  <c:v>16.32</c:v>
                </c:pt>
                <c:pt idx="2">
                  <c:v>19.78</c:v>
                </c:pt>
                <c:pt idx="3">
                  <c:v>14.66</c:v>
                </c:pt>
                <c:pt idx="4">
                  <c:v>15.42</c:v>
                </c:pt>
                <c:pt idx="5">
                  <c:v>18.93</c:v>
                </c:pt>
              </c:numCache>
            </c:numRef>
          </c:val>
        </c:ser>
        <c:ser>
          <c:idx val="1"/>
          <c:order val="1"/>
          <c:tx>
            <c:v>Sau cập nhật</c:v>
          </c:tx>
          <c:spPr>
            <a:solidFill xmlns:a="http://schemas.openxmlformats.org/drawingml/2006/main">
              <a:srgbClr val="008F8C"/>
            </a:solidFill>
            <a:ln xmlns:a="http://schemas.openxmlformats.org/drawingml/2006/main" w="28575">
              <a:solidFill>
                <a:srgbClr val="008F8C"/>
              </a:solidFill>
            </a:ln>
          </c:spPr>
          <c:cat>
            <c:strRef>
              <c:f>'Chart Data'!$C$2:$C$7</c:f>
              <c:strCache>
                <c:ptCount val="6"/>
                <c:pt idx="0">
                  <c:v>Car H10</c:v>
                </c:pt>
                <c:pt idx="1">
                  <c:v>Car H30</c:v>
                </c:pt>
                <c:pt idx="2">
                  <c:v>Car H60</c:v>
                </c:pt>
                <c:pt idx="3">
                  <c:v>Moto H10</c:v>
                </c:pt>
                <c:pt idx="4">
                  <c:v>Moto H30</c:v>
                </c:pt>
                <c:pt idx="5">
                  <c:v>Moto H60</c:v>
                </c:pt>
              </c:strCache>
            </c:strRef>
          </c:cat>
          <c:val>
            <c:numRef>
              <c:f>'Chart Data'!$D$2:$D$7</c:f>
              <c:numCache>
                <c:formatCode>0.0"%"</c:formatCode>
                <c:ptCount val="6"/>
                <c:pt idx="0">
                  <c:v>11.459</c:v>
                </c:pt>
                <c:pt idx="1">
                  <c:v>11.223</c:v>
                </c:pt>
                <c:pt idx="2">
                  <c:v>14.127</c:v>
                </c:pt>
                <c:pt idx="3">
                  <c:v>11.014</c:v>
                </c:pt>
                <c:pt idx="4">
                  <c:v>10.603</c:v>
                </c:pt>
                <c:pt idx="5">
                  <c:v>13.381</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350">
                  <a:solidFill>
                    <a:srgbClr val="17343C"/>
                  </a:solidFill>
                  <a:latin typeface="DejaVu Sans"/>
                  <a:ea typeface="DejaVu Sans"/>
                  <a:cs typeface="DejaVu San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343C"/>
                </a:solidFill>
                <a:latin typeface="DejaVu Sans"/>
                <a:ea typeface="DejaVu Sans"/>
                <a:cs typeface="DejaVu Sans"/>
              </a:defRPr>
            </a:pPr>
          </a:p>
        </c:txPr>
        <c:crossAx val="48672768"/>
      </c:catAx>
      <c:valAx>
        <c:axId val="48672768"/>
        <c:scaling>
          <c:orientation val="minMax"/>
          <c:max val="25"/>
          <c:min val="0"/>
        </c:scaling>
        <c:delete val="0"/>
        <c:axPos val="l"/>
        <c:majorGridlines>
          <c:spPr>
            <a:ln xmlns:a="http://schemas.openxmlformats.org/drawingml/2006/main" w="9525">
              <a:solidFill>
                <a:srgbClr val="DDE5E6"/>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757D"/>
                </a:solidFill>
                <a:latin typeface="DejaVu Sans"/>
                <a:ea typeface="DejaVu Sans"/>
                <a:cs typeface="DejaVu Sans"/>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DejaVu Sans"/>
              <a:ea typeface="DejaVu Sans"/>
              <a:cs typeface="DejaVu Sans"/>
            </a:defRPr>
          </a:pPr>
        </a:p>
      </c:txPr>
    </c:legend>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Actual tăng</c:v>
          </c:tx>
          <c:spPr>
            <a:solidFill xmlns:a="http://schemas.openxmlformats.org/drawingml/2006/main">
              <a:srgbClr val="17343C"/>
            </a:solidFill>
            <a:ln xmlns:a="http://schemas.openxmlformats.org/drawingml/2006/main" w="28575">
              <a:solidFill>
                <a:srgbClr val="17343C"/>
              </a:solidFill>
            </a:ln>
          </c:spPr>
          <c:cat>
            <c:strRef>
              <c:f>'Chart Data'!$A$2:$A$7</c:f>
              <c:strCache>
                <c:ptCount val="6"/>
                <c:pt idx="0">
                  <c:v>Car H10</c:v>
                </c:pt>
                <c:pt idx="1">
                  <c:v>Car H30</c:v>
                </c:pt>
                <c:pt idx="2">
                  <c:v>Car H60</c:v>
                </c:pt>
                <c:pt idx="3">
                  <c:v>Moto H10</c:v>
                </c:pt>
                <c:pt idx="4">
                  <c:v>Moto H30</c:v>
                </c:pt>
                <c:pt idx="5">
                  <c:v>Moto H60</c:v>
                </c:pt>
              </c:strCache>
            </c:strRef>
          </c:cat>
          <c:val>
            <c:numRef>
              <c:f>'Chart Data'!$B$2:$B$7</c:f>
              <c:numCache>
                <c:formatCode>0.0"%"</c:formatCode>
                <c:ptCount val="6"/>
                <c:pt idx="0">
                  <c:v>36.286</c:v>
                </c:pt>
                <c:pt idx="1">
                  <c:v>36.217</c:v>
                </c:pt>
                <c:pt idx="2">
                  <c:v>36.212</c:v>
                </c:pt>
                <c:pt idx="3">
                  <c:v>26.519</c:v>
                </c:pt>
                <c:pt idx="4">
                  <c:v>26.528</c:v>
                </c:pt>
                <c:pt idx="5">
                  <c:v>26.581</c:v>
                </c:pt>
              </c:numCache>
            </c:numRef>
          </c:val>
        </c:ser>
        <c:ser>
          <c:idx val="1"/>
          <c:order val="1"/>
          <c:tx>
            <c:v>Prediction tăng</c:v>
          </c:tx>
          <c:spPr>
            <a:solidFill xmlns:a="http://schemas.openxmlformats.org/drawingml/2006/main">
              <a:srgbClr val="008F8C"/>
            </a:solidFill>
            <a:ln xmlns:a="http://schemas.openxmlformats.org/drawingml/2006/main" w="28575">
              <a:solidFill>
                <a:srgbClr val="008F8C"/>
              </a:solidFill>
            </a:ln>
          </c:spPr>
          <c:cat>
            <c:strRef>
              <c:f>'Chart Data'!$C$2:$C$7</c:f>
              <c:strCache>
                <c:ptCount val="6"/>
                <c:pt idx="0">
                  <c:v>Car H10</c:v>
                </c:pt>
                <c:pt idx="1">
                  <c:v>Car H30</c:v>
                </c:pt>
                <c:pt idx="2">
                  <c:v>Car H60</c:v>
                </c:pt>
                <c:pt idx="3">
                  <c:v>Moto H10</c:v>
                </c:pt>
                <c:pt idx="4">
                  <c:v>Moto H30</c:v>
                </c:pt>
                <c:pt idx="5">
                  <c:v>Moto H60</c:v>
                </c:pt>
              </c:strCache>
            </c:strRef>
          </c:cat>
          <c:val>
            <c:numRef>
              <c:f>'Chart Data'!$D$2:$D$7</c:f>
              <c:numCache>
                <c:formatCode>0.0"%"</c:formatCode>
                <c:ptCount val="6"/>
                <c:pt idx="0">
                  <c:v>34.077</c:v>
                </c:pt>
                <c:pt idx="1">
                  <c:v>34.063</c:v>
                </c:pt>
                <c:pt idx="2">
                  <c:v>32.796</c:v>
                </c:pt>
                <c:pt idx="3">
                  <c:v>24.925</c:v>
                </c:pt>
                <c:pt idx="4">
                  <c:v>25.463</c:v>
                </c:pt>
                <c:pt idx="5">
                  <c:v>24.635</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350">
                  <a:solidFill>
                    <a:srgbClr val="17343C"/>
                  </a:solidFill>
                  <a:latin typeface="DejaVu Sans"/>
                  <a:ea typeface="DejaVu Sans"/>
                  <a:cs typeface="DejaVu San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343C"/>
                </a:solidFill>
                <a:latin typeface="DejaVu Sans"/>
                <a:ea typeface="DejaVu Sans"/>
                <a:cs typeface="DejaVu Sans"/>
              </a:defRPr>
            </a:pPr>
          </a:p>
        </c:txPr>
        <c:crossAx val="48672768"/>
      </c:catAx>
      <c:valAx>
        <c:axId val="48672768"/>
        <c:scaling>
          <c:orientation val="minMax"/>
          <c:max val="45"/>
          <c:min val="0"/>
        </c:scaling>
        <c:delete val="0"/>
        <c:axPos val="l"/>
        <c:majorGridlines>
          <c:spPr>
            <a:ln xmlns:a="http://schemas.openxmlformats.org/drawingml/2006/main" w="9525">
              <a:solidFill>
                <a:srgbClr val="DDE5E6"/>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757D"/>
                </a:solidFill>
                <a:latin typeface="DejaVu Sans"/>
                <a:ea typeface="DejaVu Sans"/>
                <a:cs typeface="DejaVu Sans"/>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DejaVu Sans"/>
              <a:ea typeface="DejaVu Sans"/>
              <a:cs typeface="DejaVu Sans"/>
            </a:defRPr>
          </a:pPr>
        </a:p>
      </c:txPr>
    </c:legend>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Demand tăng mạnh</c:v>
          </c:tx>
          <c:spPr>
            <a:solidFill xmlns:a="http://schemas.openxmlformats.org/drawingml/2006/main">
              <a:srgbClr val="008F8C"/>
            </a:solidFill>
            <a:ln xmlns:a="http://schemas.openxmlformats.org/drawingml/2006/main" w="28575">
              <a:solidFill>
                <a:srgbClr val="008F8C"/>
              </a:solidFill>
            </a:ln>
          </c:spPr>
          <c:cat>
            <c:strRef>
              <c:f>'Chart Data'!$A$2:$A$7</c:f>
              <c:strCache>
                <c:ptCount val="6"/>
                <c:pt idx="0">
                  <c:v>Car H10</c:v>
                </c:pt>
                <c:pt idx="1">
                  <c:v>Car H30</c:v>
                </c:pt>
                <c:pt idx="2">
                  <c:v>Car H60</c:v>
                </c:pt>
                <c:pt idx="3">
                  <c:v>Moto H10</c:v>
                </c:pt>
                <c:pt idx="4">
                  <c:v>Moto H30</c:v>
                </c:pt>
                <c:pt idx="5">
                  <c:v>Moto H60</c:v>
                </c:pt>
              </c:strCache>
            </c:strRef>
          </c:cat>
          <c:val>
            <c:numRef>
              <c:f>'Chart Data'!$B$2:$B$7</c:f>
              <c:numCache>
                <c:formatCode>0.0"%"</c:formatCode>
                <c:ptCount val="6"/>
                <c:pt idx="0">
                  <c:v>22.571</c:v>
                </c:pt>
                <c:pt idx="1">
                  <c:v>31.966</c:v>
                </c:pt>
                <c:pt idx="2">
                  <c:v>42.272</c:v>
                </c:pt>
                <c:pt idx="3">
                  <c:v>21.191</c:v>
                </c:pt>
                <c:pt idx="4">
                  <c:v>23.062</c:v>
                </c:pt>
                <c:pt idx="5">
                  <c:v>31.104</c:v>
                </c:pt>
              </c:numCache>
            </c:numRef>
          </c:val>
        </c:ser>
        <c:ser>
          <c:idx val="1"/>
          <c:order val="1"/>
          <c:tx>
            <c:v>Demand giảm mạnh</c:v>
          </c:tx>
          <c:spPr>
            <a:solidFill xmlns:a="http://schemas.openxmlformats.org/drawingml/2006/main">
              <a:srgbClr val="BD7044"/>
            </a:solidFill>
            <a:ln xmlns:a="http://schemas.openxmlformats.org/drawingml/2006/main" w="28575">
              <a:solidFill>
                <a:srgbClr val="BD7044"/>
              </a:solidFill>
            </a:ln>
          </c:spPr>
          <c:cat>
            <c:strRef>
              <c:f>'Chart Data'!$C$2:$C$7</c:f>
              <c:strCache>
                <c:ptCount val="6"/>
                <c:pt idx="0">
                  <c:v>Car H10</c:v>
                </c:pt>
                <c:pt idx="1">
                  <c:v>Car H30</c:v>
                </c:pt>
                <c:pt idx="2">
                  <c:v>Car H60</c:v>
                </c:pt>
                <c:pt idx="3">
                  <c:v>Moto H10</c:v>
                </c:pt>
                <c:pt idx="4">
                  <c:v>Moto H30</c:v>
                </c:pt>
                <c:pt idx="5">
                  <c:v>Moto H60</c:v>
                </c:pt>
              </c:strCache>
            </c:strRef>
          </c:cat>
          <c:val>
            <c:numRef>
              <c:f>'Chart Data'!$D$2:$D$7</c:f>
              <c:numCache>
                <c:formatCode>0.0"%"</c:formatCode>
                <c:ptCount val="6"/>
                <c:pt idx="0">
                  <c:v>35.11</c:v>
                </c:pt>
                <c:pt idx="1">
                  <c:v>39.552</c:v>
                </c:pt>
                <c:pt idx="2">
                  <c:v>64.493</c:v>
                </c:pt>
                <c:pt idx="3">
                  <c:v>35.29</c:v>
                </c:pt>
                <c:pt idx="4">
                  <c:v>29.931</c:v>
                </c:pt>
                <c:pt idx="5">
                  <c:v>58.63</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350">
                  <a:solidFill>
                    <a:srgbClr val="17343C"/>
                  </a:solidFill>
                  <a:latin typeface="DejaVu Sans"/>
                  <a:ea typeface="DejaVu Sans"/>
                  <a:cs typeface="DejaVu San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343C"/>
                </a:solidFill>
                <a:latin typeface="DejaVu Sans"/>
                <a:ea typeface="DejaVu Sans"/>
                <a:cs typeface="DejaVu Sans"/>
              </a:defRPr>
            </a:pPr>
          </a:p>
        </c:txPr>
        <c:crossAx val="48672768"/>
      </c:catAx>
      <c:valAx>
        <c:axId val="48672768"/>
        <c:scaling>
          <c:orientation val="minMax"/>
          <c:max val="75"/>
          <c:min val="0"/>
        </c:scaling>
        <c:delete val="0"/>
        <c:axPos val="l"/>
        <c:majorGridlines>
          <c:spPr>
            <a:ln xmlns:a="http://schemas.openxmlformats.org/drawingml/2006/main" w="9525">
              <a:solidFill>
                <a:srgbClr val="DDE5E6"/>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757D"/>
                </a:solidFill>
                <a:latin typeface="DejaVu Sans"/>
                <a:ea typeface="DejaVu Sans"/>
                <a:cs typeface="DejaVu Sans"/>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DejaVu Sans"/>
              <a:ea typeface="DejaVu Sans"/>
              <a:cs typeface="DejaVu Sans"/>
            </a:defRPr>
          </a:pPr>
        </a:p>
      </c:txPr>
    </c:legend>
    <c:plotVisOnly val="1"/>
  </c:chart>
  <c:spPr>
    <a:noFill xmlns:a="http://schemas.openxmlformats.org/drawingml/2006/mai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Có actual để chấm</c:v>
          </c:tx>
          <c:spPr>
            <a:solidFill xmlns:a="http://schemas.openxmlformats.org/drawingml/2006/main">
              <a:srgbClr val="008F8C"/>
            </a:solidFill>
            <a:ln xmlns:a="http://schemas.openxmlformats.org/drawingml/2006/main" w="28575">
              <a:solidFill>
                <a:srgbClr val="008F8C"/>
              </a:solidFill>
            </a:ln>
          </c:spPr>
          <c:cat>
            <c:strRef>
              <c:f>'Chart Data'!$A$2:$A$3</c:f>
              <c:strCache>
                <c:ptCount val="2"/>
                <c:pt idx="0">
                  <c:v>Car</c:v>
                </c:pt>
                <c:pt idx="1">
                  <c:v>Motorcycle</c:v>
                </c:pt>
              </c:strCache>
            </c:strRef>
          </c:cat>
          <c:val>
            <c:numRef>
              <c:f>'Chart Data'!$B$2:$B$3</c:f>
              <c:numCache>
                <c:formatCode>0.0"%"</c:formatCode>
                <c:ptCount val="2"/>
                <c:pt idx="0">
                  <c:v>67.281</c:v>
                </c:pt>
                <c:pt idx="1">
                  <c:v>58.986</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350">
                  <a:solidFill>
                    <a:srgbClr val="17343C"/>
                  </a:solidFill>
                  <a:latin typeface="DejaVu Sans"/>
                  <a:ea typeface="DejaVu Sans"/>
                  <a:cs typeface="DejaVu San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343C"/>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DDE5E6"/>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757D"/>
                </a:solidFill>
                <a:latin typeface="DejaVu Sans"/>
                <a:ea typeface="DejaVu Sans"/>
                <a:cs typeface="DejaVu Sans"/>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43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909ADCF-E0C7-4583-A192-B7BA73ACF845}"/>
              </a:ext>
            </a:extLst>
          </p:cNvPr>
          <p:cNvSpPr>
            <a:spLocks xmlns:a="http://schemas.openxmlformats.org/drawingml/2006/main" noGrp="1"/>
          </p:cNvSpPr>
          <p:nvPr/>
        </p:nvSpPr>
        <p:spPr>
          <a:xfrm xmlns:a="http://schemas.openxmlformats.org/drawingml/2006/main">
            <a:off x="666750" y="1476375"/>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FFFF"/>
                </a:solidFill>
                <a:latin typeface="DejaVu Sans"/>
                <a:ea typeface="DejaVu Sans"/>
                <a:cs typeface="DejaVu Sans"/>
              </a:defRPr>
            </a:defPPr>
          </a:lstStyle>
          <a:p xmlns:a="http://schemas.openxmlformats.org/drawingml/2006/main">
            <a:pPr>
              <a:defRPr sz="4950" b="1">
                <a:solidFill>
                  <a:srgbClr val="FFFFFF"/>
                </a:solidFill>
                <a:latin typeface="DejaVu Sans"/>
                <a:ea typeface="DejaVu Sans"/>
                <a:cs typeface="DejaVu Sans"/>
              </a:defRPr>
            </a:pPr>
            <a:r>
              <a:rPr sz="4950" b="1">
                <a:solidFill>
                  <a:srgbClr val="FFFFFF"/>
                </a:solidFill>
                <a:latin typeface="DejaVu Sans"/>
                <a:ea typeface="DejaVu Sans"/>
                <a:cs typeface="DejaVu Sans"/>
              </a:rPr>
              <a:t>Dự báo demand</a:t>
            </a:r>
          </a:p>
          <a:p xmlns:a="http://schemas.openxmlformats.org/drawingml/2006/main">
            <a:pPr>
              <a:defRPr sz="4950" b="1">
                <a:solidFill>
                  <a:srgbClr val="FFFFFF"/>
                </a:solidFill>
                <a:latin typeface="DejaVu Sans"/>
                <a:ea typeface="DejaVu Sans"/>
                <a:cs typeface="DejaVu Sans"/>
              </a:defRPr>
            </a:pPr>
            <a:r>
              <a:rPr sz="4950" b="1">
                <a:solidFill>
                  <a:srgbClr val="FFFFFF"/>
                </a:solidFill>
                <a:latin typeface="DejaVu Sans"/>
                <a:ea typeface="DejaVu Sans"/>
                <a:cs typeface="DejaVu Sans"/>
              </a:rPr>
              <a:t>của GSM</a:t>
            </a:r>
          </a:p>
        </p:txBody>
      </p:sp>
      <p:sp>
        <p:nvSpPr>
          <p:cNvPr id="2" name="">
            <a:extLst xmlns:a="http://schemas.openxmlformats.org/drawingml/2006/main">
              <a:ext uri="{FF2B5EF4-FFF2-40B4-BE49-F238E27FC236}">
                <a16:creationId xmlns:a16="http://schemas.microsoft.com/office/drawing/2014/main" id="{1217EFC9-FECC-4D65-B1A0-E81DAAC3155B}"/>
              </a:ext>
            </a:extLst>
          </p:cNvPr>
          <p:cNvSpPr>
            <a:spLocks xmlns:a="http://schemas.openxmlformats.org/drawingml/2006/main" noGrp="1"/>
          </p:cNvSpPr>
          <p:nvPr/>
        </p:nvSpPr>
        <p:spPr>
          <a:xfrm xmlns:a="http://schemas.openxmlformats.org/drawingml/2006/main">
            <a:off x="704850" y="36195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BCDCD8"/>
                </a:solidFill>
                <a:latin typeface="DejaVu Sans"/>
                <a:ea typeface="DejaVu Sans"/>
                <a:cs typeface="DejaVu Sans"/>
              </a:defRPr>
            </a:defPPr>
          </a:lstStyle>
          <a:p xmlns:a="http://schemas.openxmlformats.org/drawingml/2006/main">
            <a:pPr>
              <a:defRPr sz="2400" b="0">
                <a:solidFill>
                  <a:srgbClr val="BCDCD8"/>
                </a:solidFill>
                <a:latin typeface="DejaVu Sans"/>
                <a:ea typeface="DejaVu Sans"/>
                <a:cs typeface="DejaVu Sans"/>
              </a:defRPr>
            </a:pPr>
            <a:r>
              <a:rPr sz="2400" b="0">
                <a:solidFill>
                  <a:srgbClr val="BCDCD8"/>
                </a:solidFill>
                <a:latin typeface="DejaVu Sans"/>
                <a:ea typeface="DejaVu Sans"/>
                <a:cs typeface="DejaVu Sans"/>
              </a:rPr>
              <a:t>Mô hình theo khu vực và thời gian</a:t>
            </a:r>
          </a:p>
          <a:p xmlns:a="http://schemas.openxmlformats.org/drawingml/2006/main">
            <a:pPr>
              <a:defRPr sz="2400" b="0">
                <a:solidFill>
                  <a:srgbClr val="BCDCD8"/>
                </a:solidFill>
                <a:latin typeface="DejaVu Sans"/>
                <a:ea typeface="DejaVu Sans"/>
                <a:cs typeface="DejaVu Sans"/>
              </a:defRPr>
            </a:pPr>
            <a:r>
              <a:rPr sz="2400" b="0">
                <a:solidFill>
                  <a:srgbClr val="BCDCD8"/>
                </a:solidFill>
                <a:latin typeface="DejaVu Sans"/>
                <a:ea typeface="DejaVu Sans"/>
                <a:cs typeface="DejaVu Sans"/>
              </a:rPr>
              <a:t>cùng hệ thống monitoring</a:t>
            </a:r>
          </a:p>
        </p:txBody>
      </p:sp>
      <p:sp>
        <p:nvSpPr>
          <p:cNvPr id="3" name="">
            <a:extLst xmlns:a="http://schemas.openxmlformats.org/drawingml/2006/main">
              <a:ext uri="{FF2B5EF4-FFF2-40B4-BE49-F238E27FC236}">
                <a16:creationId xmlns:a16="http://schemas.microsoft.com/office/drawing/2014/main" id="{F0E19440-85C0-4DB3-B3C6-C61D2B1FAC42}"/>
              </a:ext>
            </a:extLst>
          </p:cNvPr>
          <p:cNvSpPr>
            <a:spLocks xmlns:a="http://schemas.openxmlformats.org/drawingml/2006/main" noGrp="1"/>
          </p:cNvSpPr>
          <p:nvPr/>
        </p:nvSpPr>
        <p:spPr>
          <a:xfrm xmlns:a="http://schemas.openxmlformats.org/drawingml/2006/main">
            <a:off x="704850" y="54292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Nguyễn Trường An</a:t>
            </a:r>
          </a:p>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11 tháng 10 năm 2026</a:t>
            </a:r>
          </a:p>
        </p:txBody>
      </p:sp>
    </p:spTree>
    <p:extLst>
      <p:ext uri="{BB962C8B-B14F-4D97-AF65-F5344CB8AC3E}">
        <p14:creationId xmlns:p14="http://schemas.microsoft.com/office/powerpoint/2010/main" val="1215639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78CA95-97BE-42C3-A562-52E9CCCB63DC}"/>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Bài toán dự báo theo hex và thời gian</a:t>
            </a:r>
          </a:p>
        </p:txBody>
      </p:sp>
      <p:sp>
        <p:nvSpPr>
          <p:cNvPr id="2" name="">
            <a:extLst xmlns:a="http://schemas.openxmlformats.org/drawingml/2006/main">
              <a:ext uri="{FF2B5EF4-FFF2-40B4-BE49-F238E27FC236}">
                <a16:creationId xmlns:a16="http://schemas.microsoft.com/office/drawing/2014/main" id="{B84818BA-86D3-46FA-B82F-16CA9A6421C7}"/>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báo cáo tuần 1–2 và quy ước target trong source.</a:t>
            </a:r>
          </a:p>
        </p:txBody>
      </p:sp>
      <p:sp>
        <p:nvSpPr>
          <p:cNvPr id="3" name="">
            <a:extLst xmlns:a="http://schemas.openxmlformats.org/drawingml/2006/main">
              <a:ext uri="{FF2B5EF4-FFF2-40B4-BE49-F238E27FC236}">
                <a16:creationId xmlns:a16="http://schemas.microsoft.com/office/drawing/2014/main" id="{2711BFE5-AABC-4F0C-86D6-39DD735D2B7E}"/>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02</a:t>
            </a:r>
          </a:p>
        </p:txBody>
      </p:sp>
      <p:graphicFrame>
        <p:nvGraphicFramePr>
          <p:cNvPr id="4" name="">
            <a:extLst xmlns:a="http://schemas.openxmlformats.org/drawingml/2006/main">
              <a:ext uri="{FF2B5EF4-FFF2-40B4-BE49-F238E27FC236}">
                <a16:creationId xmlns:a16="http://schemas.microsoft.com/office/drawing/2014/main" id="{44EF41E0-32F4-46B6-84B1-18D11C5F51CC}"/>
              </a:ext>
            </a:extLst>
          </p:cNvPr>
          <p:cNvGraphicFramePr/>
          <p:nvPr/>
        </p:nvGraphicFramePr>
        <p:xfrm>
          <a:off xmlns:a="http://schemas.openxmlformats.org/drawingml/2006/main" x="609600" y="1571625"/>
          <a:ext xmlns:a="http://schemas.openxmlformats.org/drawingml/2006/main" cx="10972800" cy="2714625"/>
        </p:xfrm>
        <a:graphic xmlns:a="http://schemas.openxmlformats.org/drawingml/2006/main">
          <a:graphicData uri="http://schemas.openxmlformats.org/drawingml/2006/table">
            <a:tbl>
              <a:tblPr/>
              <a:tblGrid>
                <a:gridCol w="1714500"/>
                <a:gridCol w="3429000"/>
                <a:gridCol w="5829300"/>
              </a:tblGrid>
              <a:tr h="678656">
                <a:tc>
                  <a:txBody>
                    <a:bodyPr/>
                    <a:lstStyle/>
                    <a:p>
                      <a:r>
                        <a:rPr sz="1725" b="1">
                          <a:solidFill>
                            <a:srgbClr val="FFFFFF"/>
                          </a:solidFill>
                          <a:latin typeface="DejaVu Sans"/>
                          <a:ea typeface="DejaVu Sans"/>
                          <a:cs typeface="DejaVu Sans"/>
                        </a:rPr>
                        <a:t>Đầu ra</a:t>
                      </a:r>
                    </a:p>
                  </a:txBody>
                  <a:tcPr marL="91440" marR="91440" marT="45720" marB="45720">
                    <a:solidFill>
                      <a:srgbClr val="17343C"/>
                    </a:solidFill>
                  </a:tcPr>
                </a:tc>
                <a:tc>
                  <a:txBody>
                    <a:bodyPr/>
                    <a:lstStyle/>
                    <a:p>
                      <a:r>
                        <a:rPr sz="1725" b="1">
                          <a:solidFill>
                            <a:srgbClr val="FFFFFF"/>
                          </a:solidFill>
                          <a:latin typeface="DejaVu Sans"/>
                          <a:ea typeface="DejaVu Sans"/>
                          <a:cs typeface="DejaVu Sans"/>
                        </a:rPr>
                        <a:t>Khoảng dự báo</a:t>
                      </a:r>
                    </a:p>
                  </a:txBody>
                  <a:tcPr marL="91440" marR="91440" marT="45720" marB="45720">
                    <a:solidFill>
                      <a:srgbClr val="17343C"/>
                    </a:solidFill>
                  </a:tcPr>
                </a:tc>
                <a:tc>
                  <a:txBody>
                    <a:bodyPr/>
                    <a:lstStyle/>
                    <a:p>
                      <a:r>
                        <a:rPr sz="1725" b="1">
                          <a:solidFill>
                            <a:srgbClr val="FFFFFF"/>
                          </a:solidFill>
                          <a:latin typeface="DejaVu Sans"/>
                          <a:ea typeface="DejaVu Sans"/>
                          <a:cs typeface="DejaVu Sans"/>
                        </a:rPr>
                        <a:t>Hướng sử dụng dự kiến</a:t>
                      </a:r>
                    </a:p>
                  </a:txBody>
                  <a:tcPr marL="91440" marR="91440" marT="45720" marB="45720">
                    <a:solidFill>
                      <a:srgbClr val="17343C"/>
                    </a:solidFill>
                  </a:tcPr>
                </a:tc>
              </a:tr>
              <a:tr h="678656">
                <a:tc>
                  <a:txBody>
                    <a:bodyPr/>
                    <a:lstStyle/>
                    <a:p>
                      <a:r>
                        <a:rPr sz="1725" b="0">
                          <a:solidFill>
                            <a:srgbClr val="17343C"/>
                          </a:solidFill>
                          <a:latin typeface="DejaVu Sans"/>
                          <a:ea typeface="DejaVu Sans"/>
                          <a:cs typeface="DejaVu Sans"/>
                        </a:rPr>
                        <a:t>H10</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10 phút tiếp theo</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Theo dõi nhu cầu gần</a:t>
                      </a:r>
                    </a:p>
                  </a:txBody>
                  <a:tcPr marL="91440" marR="91440" marT="45720" marB="45720">
                    <a:solidFill>
                      <a:srgbClr val="FFFFFF"/>
                    </a:solidFill>
                  </a:tcPr>
                </a:tc>
              </a:tr>
              <a:tr h="678656">
                <a:tc>
                  <a:txBody>
                    <a:bodyPr/>
                    <a:lstStyle/>
                    <a:p>
                      <a:r>
                        <a:rPr sz="1725" b="0">
                          <a:solidFill>
                            <a:srgbClr val="17343C"/>
                          </a:solidFill>
                          <a:latin typeface="DejaVu Sans"/>
                          <a:ea typeface="DejaVu Sans"/>
                          <a:cs typeface="DejaVu Sans"/>
                        </a:rPr>
                        <a:t>H30</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30 phút tiếp theo</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Chuẩn bị nguồn cung ngắn hạn</a:t>
                      </a:r>
                    </a:p>
                  </a:txBody>
                  <a:tcPr marL="91440" marR="91440" marT="45720" marB="45720">
                    <a:solidFill>
                      <a:srgbClr val="EDF5F4"/>
                    </a:solidFill>
                  </a:tcPr>
                </a:tc>
              </a:tr>
              <a:tr h="678656">
                <a:tc>
                  <a:txBody>
                    <a:bodyPr/>
                    <a:lstStyle/>
                    <a:p>
                      <a:r>
                        <a:rPr sz="1725" b="0">
                          <a:solidFill>
                            <a:srgbClr val="17343C"/>
                          </a:solidFill>
                          <a:latin typeface="DejaVu Sans"/>
                          <a:ea typeface="DejaVu Sans"/>
                          <a:cs typeface="DejaVu Sans"/>
                        </a:rPr>
                        <a:t>H60</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60 phút tiếp theo</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Theo dõi sớm nhu cầu</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60B92D1-778E-4F2B-9B4E-1D1CC17EE275}"/>
              </a:ext>
            </a:extLst>
          </p:cNvPr>
          <p:cNvSpPr>
            <a:spLocks xmlns:a="http://schemas.openxmlformats.org/drawingml/2006/main" noGrp="1"/>
          </p:cNvSpPr>
          <p:nvPr/>
        </p:nvSpPr>
        <p:spPr>
          <a:xfrm xmlns:a="http://schemas.openxmlformats.org/drawingml/2006/main">
            <a:off x="609600" y="4714875"/>
            <a:ext cx="1076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43C"/>
                </a:solidFill>
                <a:latin typeface="DejaVu Sans"/>
                <a:ea typeface="DejaVu Sans"/>
                <a:cs typeface="DejaVu Sans"/>
              </a:defRPr>
            </a:defPPr>
          </a:lstStyle>
          <a:p xmlns:a="http://schemas.openxmlformats.org/drawingml/2006/main">
            <a:pPr>
              <a:defRPr sz="2175" b="0">
                <a:solidFill>
                  <a:srgbClr val="17343C"/>
                </a:solidFill>
                <a:latin typeface="DejaVu Sans"/>
                <a:ea typeface="DejaVu Sans"/>
                <a:cs typeface="DejaVu Sans"/>
              </a:defRPr>
            </a:pPr>
            <a:r>
              <a:rPr sz="2175" b="0">
                <a:solidFill>
                  <a:srgbClr val="17343C"/>
                </a:solidFill>
                <a:latin typeface="DejaVu Sans"/>
                <a:ea typeface="DejaVu Sans"/>
                <a:cs typeface="DejaVu Sans"/>
              </a:rPr>
              <a:t>Mỗi 10 phút, 6 model direct tạo dự báo cho Car và Motorcycle.</a:t>
            </a:r>
          </a:p>
          <a:p xmlns:a="http://schemas.openxmlformats.org/drawingml/2006/main">
            <a:pPr>
              <a:defRPr sz="2175" b="0">
                <a:solidFill>
                  <a:srgbClr val="17343C"/>
                </a:solidFill>
                <a:latin typeface="DejaVu Sans"/>
                <a:ea typeface="DejaVu Sans"/>
                <a:cs typeface="DejaVu Sans"/>
              </a:defRPr>
            </a:pPr>
            <a:r>
              <a:rPr sz="2175" b="0">
                <a:solidFill>
                  <a:srgbClr val="17343C"/>
                </a:solidFill>
                <a:latin typeface="DejaVu Sans"/>
                <a:ea typeface="DejaVu Sans"/>
                <a:cs typeface="DejaVu Sans"/>
              </a:rPr>
              <a:t>Hiệu quả điều phối thực tế chưa được đo trong đề tài.</a:t>
            </a:r>
          </a:p>
        </p:txBody>
      </p:sp>
    </p:spTree>
    <p:extLst>
      <p:ext uri="{BB962C8B-B14F-4D97-AF65-F5344CB8AC3E}">
        <p14:creationId xmlns:p14="http://schemas.microsoft.com/office/powerpoint/2010/main" val="19444224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EFF0D8-A212-4988-93EF-DD92CBBE0D69}"/>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Dữ liệu thực nghiệm</a:t>
            </a:r>
          </a:p>
        </p:txBody>
      </p:sp>
      <p:sp>
        <p:nvSpPr>
          <p:cNvPr id="2" name="">
            <a:extLst xmlns:a="http://schemas.openxmlformats.org/drawingml/2006/main">
              <a:ext uri="{FF2B5EF4-FFF2-40B4-BE49-F238E27FC236}">
                <a16:creationId xmlns:a16="http://schemas.microsoft.com/office/drawing/2014/main" id="{C8B69BCF-F427-498D-A2CD-950C09C3B846}"/>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Tuan_2(1).docx và source. Các số liệu thuộc bộ dữ liệu giả lập.</a:t>
            </a:r>
          </a:p>
        </p:txBody>
      </p:sp>
      <p:sp>
        <p:nvSpPr>
          <p:cNvPr id="3" name="">
            <a:extLst xmlns:a="http://schemas.openxmlformats.org/drawingml/2006/main">
              <a:ext uri="{FF2B5EF4-FFF2-40B4-BE49-F238E27FC236}">
                <a16:creationId xmlns:a16="http://schemas.microsoft.com/office/drawing/2014/main" id="{96A5A053-CE10-4E72-B452-DD977D5515FF}"/>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03</a:t>
            </a:r>
          </a:p>
        </p:txBody>
      </p:sp>
      <p:sp>
        <p:nvSpPr>
          <p:cNvPr id="4" name="">
            <a:extLst xmlns:a="http://schemas.openxmlformats.org/drawingml/2006/main">
              <a:ext uri="{FF2B5EF4-FFF2-40B4-BE49-F238E27FC236}">
                <a16:creationId xmlns:a16="http://schemas.microsoft.com/office/drawing/2014/main" id="{749A2B86-6F92-45E7-B026-8DCECC64B3EB}"/>
              </a:ext>
            </a:extLst>
          </p:cNvPr>
          <p:cNvSpPr>
            <a:spLocks xmlns:a="http://schemas.openxmlformats.org/drawingml/2006/main" noGrp="1"/>
          </p:cNvSpPr>
          <p:nvPr/>
        </p:nvSpPr>
        <p:spPr>
          <a:xfrm xmlns:a="http://schemas.openxmlformats.org/drawingml/2006/main">
            <a:off x="609600" y="166687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008F8C"/>
                </a:solidFill>
                <a:latin typeface="DejaVu Sans"/>
                <a:ea typeface="DejaVu Sans"/>
                <a:cs typeface="DejaVu Sans"/>
              </a:defRPr>
            </a:defPPr>
          </a:lstStyle>
          <a:p xmlns:a="http://schemas.openxmlformats.org/drawingml/2006/main">
            <a:pPr>
              <a:defRPr sz="5250" b="1">
                <a:solidFill>
                  <a:srgbClr val="008F8C"/>
                </a:solidFill>
                <a:latin typeface="DejaVu Sans"/>
                <a:ea typeface="DejaVu Sans"/>
                <a:cs typeface="DejaVu Sans"/>
              </a:defRPr>
            </a:pPr>
            <a:r>
              <a:rPr sz="5250" b="1">
                <a:solidFill>
                  <a:srgbClr val="008F8C"/>
                </a:solidFill>
                <a:latin typeface="DejaVu Sans"/>
                <a:ea typeface="DejaVu Sans"/>
                <a:cs typeface="DejaVu Sans"/>
              </a:rPr>
              <a:t>5,4 triệu</a:t>
            </a:r>
          </a:p>
        </p:txBody>
      </p:sp>
      <p:sp>
        <p:nvSpPr>
          <p:cNvPr id="5" name="">
            <a:extLst xmlns:a="http://schemas.openxmlformats.org/drawingml/2006/main">
              <a:ext uri="{FF2B5EF4-FFF2-40B4-BE49-F238E27FC236}">
                <a16:creationId xmlns:a16="http://schemas.microsoft.com/office/drawing/2014/main" id="{CB0E9C11-1F52-4895-B1D2-8E85F6108DA9}"/>
              </a:ext>
            </a:extLst>
          </p:cNvPr>
          <p:cNvSpPr>
            <a:spLocks xmlns:a="http://schemas.openxmlformats.org/drawingml/2006/main" noGrp="1"/>
          </p:cNvSpPr>
          <p:nvPr/>
        </p:nvSpPr>
        <p:spPr>
          <a:xfrm xmlns:a="http://schemas.openxmlformats.org/drawingml/2006/main">
            <a:off x="647700" y="270510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43C"/>
                </a:solidFill>
                <a:latin typeface="DejaVu Sans"/>
                <a:ea typeface="DejaVu Sans"/>
                <a:cs typeface="DejaVu Sans"/>
              </a:defRPr>
            </a:defPPr>
          </a:lstStyle>
          <a:p xmlns:a="http://schemas.openxmlformats.org/drawingml/2006/main">
            <a:pPr>
              <a:defRPr sz="2175" b="0">
                <a:solidFill>
                  <a:srgbClr val="17343C"/>
                </a:solidFill>
                <a:latin typeface="DejaVu Sans"/>
                <a:ea typeface="DejaVu Sans"/>
                <a:cs typeface="DejaVu Sans"/>
              </a:defRPr>
            </a:pPr>
            <a:r>
              <a:rPr sz="2175" b="0">
                <a:solidFill>
                  <a:srgbClr val="17343C"/>
                </a:solidFill>
                <a:latin typeface="DejaVu Sans"/>
                <a:ea typeface="DejaVu Sans"/>
                <a:cs typeface="DejaVu Sans"/>
              </a:rPr>
              <a:t>dòng dữ liệu giả lập</a:t>
            </a:r>
          </a:p>
        </p:txBody>
      </p:sp>
      <p:graphicFrame>
        <p:nvGraphicFramePr>
          <p:cNvPr id="6" name="">
            <a:extLst xmlns:a="http://schemas.openxmlformats.org/drawingml/2006/main">
              <a:ext uri="{FF2B5EF4-FFF2-40B4-BE49-F238E27FC236}">
                <a16:creationId xmlns:a16="http://schemas.microsoft.com/office/drawing/2014/main" id="{65D64BF1-5275-4EA3-B455-6A3271B3C2C5}"/>
              </a:ext>
            </a:extLst>
          </p:cNvPr>
          <p:cNvGraphicFramePr/>
          <p:nvPr/>
        </p:nvGraphicFramePr>
        <p:xfrm>
          <a:off xmlns:a="http://schemas.openxmlformats.org/drawingml/2006/main" x="6191250" y="1619250"/>
          <a:ext xmlns:a="http://schemas.openxmlformats.org/drawingml/2006/main" cx="5391150" cy="3238500"/>
        </p:xfrm>
        <a:graphic xmlns:a="http://schemas.openxmlformats.org/drawingml/2006/main">
          <a:graphicData uri="http://schemas.openxmlformats.org/drawingml/2006/table">
            <a:tbl>
              <a:tblPr/>
              <a:tblGrid>
                <a:gridCol w="1666875"/>
                <a:gridCol w="3724275"/>
              </a:tblGrid>
              <a:tr h="647700">
                <a:tc>
                  <a:txBody>
                    <a:bodyPr/>
                    <a:lstStyle/>
                    <a:p>
                      <a:r>
                        <a:rPr sz="1725" b="1">
                          <a:solidFill>
                            <a:srgbClr val="FFFFFF"/>
                          </a:solidFill>
                          <a:latin typeface="DejaVu Sans"/>
                          <a:ea typeface="DejaVu Sans"/>
                          <a:cs typeface="DejaVu Sans"/>
                        </a:rPr>
                        <a:t>Thuộc tính</a:t>
                      </a:r>
                    </a:p>
                  </a:txBody>
                  <a:tcPr marL="91440" marR="91440" marT="45720" marB="45720">
                    <a:solidFill>
                      <a:srgbClr val="17343C"/>
                    </a:solidFill>
                  </a:tcPr>
                </a:tc>
                <a:tc>
                  <a:txBody>
                    <a:bodyPr/>
                    <a:lstStyle/>
                    <a:p>
                      <a:r>
                        <a:rPr sz="1725" b="1">
                          <a:solidFill>
                            <a:srgbClr val="FFFFFF"/>
                          </a:solidFill>
                          <a:latin typeface="DejaVu Sans"/>
                          <a:ea typeface="DejaVu Sans"/>
                          <a:cs typeface="DejaVu Sans"/>
                        </a:rPr>
                        <a:t>Phạm vi</a:t>
                      </a:r>
                    </a:p>
                  </a:txBody>
                  <a:tcPr marL="91440" marR="91440" marT="45720" marB="45720">
                    <a:solidFill>
                      <a:srgbClr val="17343C"/>
                    </a:solidFill>
                  </a:tcPr>
                </a:tc>
              </a:tr>
              <a:tr h="647700">
                <a:tc>
                  <a:txBody>
                    <a:bodyPr/>
                    <a:lstStyle/>
                    <a:p>
                      <a:r>
                        <a:rPr sz="1725" b="0">
                          <a:solidFill>
                            <a:srgbClr val="17343C"/>
                          </a:solidFill>
                          <a:latin typeface="DejaVu Sans"/>
                          <a:ea typeface="DejaVu Sans"/>
                          <a:cs typeface="DejaVu Sans"/>
                        </a:rPr>
                        <a:t>Khu vực</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TP HCM, 217 hex H3 level 7</a:t>
                      </a:r>
                    </a:p>
                  </a:txBody>
                  <a:tcPr marL="91440" marR="91440" marT="45720" marB="45720">
                    <a:solidFill>
                      <a:srgbClr val="FFFFFF"/>
                    </a:solidFill>
                  </a:tcPr>
                </a:tc>
              </a:tr>
              <a:tr h="647700">
                <a:tc>
                  <a:txBody>
                    <a:bodyPr/>
                    <a:lstStyle/>
                    <a:p>
                      <a:r>
                        <a:rPr sz="1725" b="0">
                          <a:solidFill>
                            <a:srgbClr val="17343C"/>
                          </a:solidFill>
                          <a:latin typeface="DejaVu Sans"/>
                          <a:ea typeface="DejaVu Sans"/>
                          <a:cs typeface="DejaVu Sans"/>
                        </a:rPr>
                        <a:t>Phương tiện</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Car và Motorcycle</a:t>
                      </a:r>
                    </a:p>
                  </a:txBody>
                  <a:tcPr marL="91440" marR="91440" marT="45720" marB="45720">
                    <a:solidFill>
                      <a:srgbClr val="EDF5F4"/>
                    </a:solidFill>
                  </a:tcPr>
                </a:tc>
              </a:tr>
              <a:tr h="647700">
                <a:tc>
                  <a:txBody>
                    <a:bodyPr/>
                    <a:lstStyle/>
                    <a:p>
                      <a:r>
                        <a:rPr sz="1725" b="0">
                          <a:solidFill>
                            <a:srgbClr val="17343C"/>
                          </a:solidFill>
                          <a:latin typeface="DejaVu Sans"/>
                          <a:ea typeface="DejaVu Sans"/>
                          <a:cs typeface="DejaVu Sans"/>
                        </a:rPr>
                        <a:t>Bước thời gian</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10 phút</a:t>
                      </a:r>
                    </a:p>
                  </a:txBody>
                  <a:tcPr marL="91440" marR="91440" marT="45720" marB="45720">
                    <a:solidFill>
                      <a:srgbClr val="FFFFFF"/>
                    </a:solidFill>
                  </a:tcPr>
                </a:tc>
              </a:tr>
              <a:tr h="647700">
                <a:tc>
                  <a:txBody>
                    <a:bodyPr/>
                    <a:lstStyle/>
                    <a:p>
                      <a:r>
                        <a:rPr sz="1725" b="0">
                          <a:solidFill>
                            <a:srgbClr val="17343C"/>
                          </a:solidFill>
                          <a:latin typeface="DejaVu Sans"/>
                          <a:ea typeface="DejaVu Sans"/>
                          <a:cs typeface="DejaVu Sans"/>
                        </a:rPr>
                        <a:t>Giai đoạn</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01/05–10/09/2026</a:t>
                      </a:r>
                    </a:p>
                  </a:txBody>
                  <a:tcPr marL="91440" marR="91440" marT="45720" marB="45720">
                    <a:solidFill>
                      <a:srgbClr val="EDF5F4"/>
                    </a:solidFill>
                  </a:tcPr>
                </a:tc>
              </a:tr>
            </a:tbl>
          </a:graphicData>
        </a:graphic>
      </p:graphicFrame>
      <p:sp>
        <p:nvSpPr>
          <p:cNvPr id="7" name="">
            <a:extLst xmlns:a="http://schemas.openxmlformats.org/drawingml/2006/main">
              <a:ext uri="{FF2B5EF4-FFF2-40B4-BE49-F238E27FC236}">
                <a16:creationId xmlns:a16="http://schemas.microsoft.com/office/drawing/2014/main" id="{52F7AE42-11A9-40DE-BD3E-4CF14AB0C30B}"/>
              </a:ext>
            </a:extLst>
          </p:cNvPr>
          <p:cNvSpPr>
            <a:spLocks xmlns:a="http://schemas.openxmlformats.org/drawingml/2006/main" noGrp="1"/>
          </p:cNvSpPr>
          <p:nvPr/>
        </p:nvSpPr>
        <p:spPr>
          <a:xfrm xmlns:a="http://schemas.openxmlformats.org/drawingml/2006/main">
            <a:off x="609600" y="5191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43C"/>
                </a:solidFill>
                <a:latin typeface="DejaVu Sans"/>
                <a:ea typeface="DejaVu Sans"/>
                <a:cs typeface="DejaVu Sans"/>
              </a:defRPr>
            </a:defPPr>
          </a:lstStyle>
          <a:p xmlns:a="http://schemas.openxmlformats.org/drawingml/2006/main">
            <a:pPr>
              <a:defRPr sz="2025" b="0">
                <a:solidFill>
                  <a:srgbClr val="17343C"/>
                </a:solidFill>
                <a:latin typeface="DejaVu Sans"/>
                <a:ea typeface="DejaVu Sans"/>
                <a:cs typeface="DejaVu Sans"/>
              </a:defRPr>
            </a:pPr>
            <a:r>
              <a:rPr sz="2025" b="0">
                <a:solidFill>
                  <a:srgbClr val="17343C"/>
                </a:solidFill>
                <a:latin typeface="DejaVu Sans"/>
                <a:ea typeface="DejaVu Sans"/>
                <a:cs typeface="DejaVu Sans"/>
              </a:rPr>
              <a:t>Một số hex không hoạt động mỗi ngày.</a:t>
            </a:r>
          </a:p>
          <a:p xmlns:a="http://schemas.openxmlformats.org/drawingml/2006/main">
            <a:pPr>
              <a:defRPr sz="2025" b="0">
                <a:solidFill>
                  <a:srgbClr val="17343C"/>
                </a:solidFill>
                <a:latin typeface="DejaVu Sans"/>
                <a:ea typeface="DejaVu Sans"/>
                <a:cs typeface="DejaVu Sans"/>
              </a:defRPr>
            </a:pPr>
            <a:r>
              <a:rPr sz="2025" b="0">
                <a:solidFill>
                  <a:srgbClr val="17343C"/>
                </a:solidFill>
                <a:latin typeface="DejaVu Sans"/>
                <a:ea typeface="DejaVu Sans"/>
                <a:cs typeface="DejaVu Sans"/>
              </a:rPr>
              <a:t>Thiếu quan sát cần đối chiếu phạm vi trước khi coi là demand bằng 0.</a:t>
            </a:r>
          </a:p>
        </p:txBody>
      </p:sp>
    </p:spTree>
    <p:extLst>
      <p:ext uri="{BB962C8B-B14F-4D97-AF65-F5344CB8AC3E}">
        <p14:creationId xmlns:p14="http://schemas.microsoft.com/office/powerpoint/2010/main" val="11546266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992C2B-79A3-40BA-8AFF-1CC327C79CA7}"/>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Thiết kế đánh giá theo thời gian</a:t>
            </a:r>
          </a:p>
        </p:txBody>
      </p:sp>
      <p:sp>
        <p:nvSpPr>
          <p:cNvPr id="2" name="">
            <a:extLst xmlns:a="http://schemas.openxmlformats.org/drawingml/2006/main">
              <a:ext uri="{FF2B5EF4-FFF2-40B4-BE49-F238E27FC236}">
                <a16:creationId xmlns:a16="http://schemas.microsoft.com/office/drawing/2014/main" id="{A06E5B52-C659-4B6E-8F99-C26F2B772BB4}"/>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báo cáo tuần 3, notebook tuần 4 cell 16 và NOTEBOOK_MIGRATION.md.</a:t>
            </a:r>
          </a:p>
        </p:txBody>
      </p:sp>
      <p:sp>
        <p:nvSpPr>
          <p:cNvPr id="3" name="">
            <a:extLst xmlns:a="http://schemas.openxmlformats.org/drawingml/2006/main">
              <a:ext uri="{FF2B5EF4-FFF2-40B4-BE49-F238E27FC236}">
                <a16:creationId xmlns:a16="http://schemas.microsoft.com/office/drawing/2014/main" id="{9309FFC7-A5A0-40BA-9C3A-7E4AF429427D}"/>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04</a:t>
            </a:r>
          </a:p>
        </p:txBody>
      </p:sp>
      <p:graphicFrame>
        <p:nvGraphicFramePr>
          <p:cNvPr id="4" name="">
            <a:extLst xmlns:a="http://schemas.openxmlformats.org/drawingml/2006/main">
              <a:ext uri="{FF2B5EF4-FFF2-40B4-BE49-F238E27FC236}">
                <a16:creationId xmlns:a16="http://schemas.microsoft.com/office/drawing/2014/main" id="{6AAB0399-A4C8-48F1-9C8D-65C4C8CA2E87}"/>
              </a:ext>
            </a:extLst>
          </p:cNvPr>
          <p:cNvGraphicFramePr/>
          <p:nvPr/>
        </p:nvGraphicFramePr>
        <p:xfrm>
          <a:off xmlns:a="http://schemas.openxmlformats.org/drawingml/2006/main" x="609600" y="1571625"/>
          <a:ext xmlns:a="http://schemas.openxmlformats.org/drawingml/2006/main" cx="10972800" cy="2762250"/>
        </p:xfrm>
        <a:graphic xmlns:a="http://schemas.openxmlformats.org/drawingml/2006/main">
          <a:graphicData uri="http://schemas.openxmlformats.org/drawingml/2006/table">
            <a:tbl>
              <a:tblPr/>
              <a:tblGrid>
                <a:gridCol w="2000250"/>
                <a:gridCol w="5429250"/>
                <a:gridCol w="3543300"/>
              </a:tblGrid>
              <a:tr h="690563">
                <a:tc>
                  <a:txBody>
                    <a:bodyPr/>
                    <a:lstStyle/>
                    <a:p>
                      <a:r>
                        <a:rPr sz="1800" b="1">
                          <a:solidFill>
                            <a:srgbClr val="FFFFFF"/>
                          </a:solidFill>
                          <a:latin typeface="DejaVu Sans"/>
                          <a:ea typeface="DejaVu Sans"/>
                          <a:cs typeface="DejaVu Sans"/>
                        </a:rPr>
                        <a:t>Tập</a:t>
                      </a:r>
                    </a:p>
                  </a:txBody>
                  <a:tcPr marL="91440" marR="91440" marT="45720" marB="45720">
                    <a:solidFill>
                      <a:srgbClr val="17343C"/>
                    </a:solidFill>
                  </a:tcPr>
                </a:tc>
                <a:tc>
                  <a:txBody>
                    <a:bodyPr/>
                    <a:lstStyle/>
                    <a:p>
                      <a:r>
                        <a:rPr sz="1800" b="1">
                          <a:solidFill>
                            <a:srgbClr val="FFFFFF"/>
                          </a:solidFill>
                          <a:latin typeface="DejaVu Sans"/>
                          <a:ea typeface="DejaVu Sans"/>
                          <a:cs typeface="DejaVu Sans"/>
                        </a:rPr>
                        <a:t>Vai trò</a:t>
                      </a:r>
                    </a:p>
                  </a:txBody>
                  <a:tcPr marL="91440" marR="91440" marT="45720" marB="45720">
                    <a:solidFill>
                      <a:srgbClr val="17343C"/>
                    </a:solidFill>
                  </a:tcPr>
                </a:tc>
                <a:tc>
                  <a:txBody>
                    <a:bodyPr/>
                    <a:lstStyle/>
                    <a:p>
                      <a:r>
                        <a:rPr sz="1800" b="1">
                          <a:solidFill>
                            <a:srgbClr val="FFFFFF"/>
                          </a:solidFill>
                          <a:latin typeface="DejaVu Sans"/>
                          <a:ea typeface="DejaVu Sans"/>
                          <a:cs typeface="DejaVu Sans"/>
                        </a:rPr>
                        <a:t>Mốc bắt đầu</a:t>
                      </a:r>
                    </a:p>
                  </a:txBody>
                  <a:tcPr marL="91440" marR="91440" marT="45720" marB="45720">
                    <a:solidFill>
                      <a:srgbClr val="17343C"/>
                    </a:solidFill>
                  </a:tcPr>
                </a:tc>
              </a:tr>
              <a:tr h="690563">
                <a:tc>
                  <a:txBody>
                    <a:bodyPr/>
                    <a:lstStyle/>
                    <a:p>
                      <a:r>
                        <a:rPr sz="1800" b="0">
                          <a:solidFill>
                            <a:srgbClr val="17343C"/>
                          </a:solidFill>
                          <a:latin typeface="DejaVu Sans"/>
                          <a:ea typeface="DejaVu Sans"/>
                          <a:cs typeface="DejaVu Sans"/>
                        </a:rPr>
                        <a:t>TRAIN</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Fit mô hình</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01/05/2026</a:t>
                      </a:r>
                    </a:p>
                  </a:txBody>
                  <a:tcPr marL="91440" marR="91440" marT="45720" marB="45720">
                    <a:solidFill>
                      <a:srgbClr val="FFFFFF"/>
                    </a:solidFill>
                  </a:tcPr>
                </a:tc>
              </a:tr>
              <a:tr h="690563">
                <a:tc>
                  <a:txBody>
                    <a:bodyPr/>
                    <a:lstStyle/>
                    <a:p>
                      <a:r>
                        <a:rPr sz="1800" b="0">
                          <a:solidFill>
                            <a:srgbClr val="17343C"/>
                          </a:solidFill>
                          <a:latin typeface="DejaVu Sans"/>
                          <a:ea typeface="DejaVu Sans"/>
                          <a:cs typeface="DejaVu Sans"/>
                        </a:rPr>
                        <a:t>Validation</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Chọn feature và cấu hình</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16/07/2026 lúc 09:40</a:t>
                      </a:r>
                    </a:p>
                  </a:txBody>
                  <a:tcPr marL="91440" marR="91440" marT="45720" marB="45720">
                    <a:solidFill>
                      <a:srgbClr val="EDF5F4"/>
                    </a:solidFill>
                  </a:tcPr>
                </a:tc>
              </a:tr>
              <a:tr h="690563">
                <a:tc>
                  <a:txBody>
                    <a:bodyPr/>
                    <a:lstStyle/>
                    <a:p>
                      <a:r>
                        <a:rPr sz="1800" b="0">
                          <a:solidFill>
                            <a:srgbClr val="17343C"/>
                          </a:solidFill>
                          <a:latin typeface="DejaVu Sans"/>
                          <a:ea typeface="DejaVu Sans"/>
                          <a:cs typeface="DejaVu Sans"/>
                        </a:rPr>
                        <a:t>TEST</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Đánh giá sau khi khóa phương án</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15/08/2026 lúc 09:40</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36F2876-D8A7-48DB-9523-A6A2E806D957}"/>
              </a:ext>
            </a:extLst>
          </p:cNvPr>
          <p:cNvSpPr>
            <a:spLocks xmlns:a="http://schemas.openxmlformats.org/drawingml/2006/main" noGrp="1"/>
          </p:cNvSpPr>
          <p:nvPr/>
        </p:nvSpPr>
        <p:spPr>
          <a:xfrm xmlns:a="http://schemas.openxmlformats.org/drawingml/2006/main">
            <a:off x="609600" y="4743450"/>
            <a:ext cx="1085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3C"/>
                </a:solidFill>
                <a:latin typeface="DejaVu Sans"/>
                <a:ea typeface="DejaVu Sans"/>
                <a:cs typeface="DejaVu Sans"/>
              </a:defRPr>
            </a:defPPr>
          </a:lstStyle>
          <a:p xmlns:a="http://schemas.openxmlformats.org/drawingml/2006/main">
            <a:pPr>
              <a:defRPr sz="2100" b="0">
                <a:solidFill>
                  <a:srgbClr val="17343C"/>
                </a:solidFill>
                <a:latin typeface="DejaVu Sans"/>
                <a:ea typeface="DejaVu Sans"/>
                <a:cs typeface="DejaVu Sans"/>
              </a:defRPr>
            </a:pPr>
            <a:r>
              <a:rPr sz="2100" b="0">
                <a:solidFill>
                  <a:srgbClr val="17343C"/>
                </a:solidFill>
                <a:latin typeface="DejaVu Sans"/>
                <a:ea typeface="DejaVu Sans"/>
                <a:cs typeface="DejaVu Sans"/>
              </a:rPr>
              <a:t>Loại nhãn chồng ranh giới. Feature chỉ dùng thông tin đã có tại T.</a:t>
            </a:r>
          </a:p>
          <a:p xmlns:a="http://schemas.openxmlformats.org/drawingml/2006/main">
            <a:pPr>
              <a:defRPr sz="2100" b="0">
                <a:solidFill>
                  <a:srgbClr val="17343C"/>
                </a:solidFill>
                <a:latin typeface="DejaVu Sans"/>
                <a:ea typeface="DejaVu Sans"/>
                <a:cs typeface="DejaVu Sans"/>
              </a:defRPr>
            </a:pPr>
            <a:r>
              <a:rPr sz="2100" b="0">
                <a:solidFill>
                  <a:srgbClr val="17343C"/>
                </a:solidFill>
                <a:latin typeface="DejaVu Sans"/>
                <a:ea typeface="DejaVu Sans"/>
                <a:cs typeface="DejaVu Sans"/>
              </a:rPr>
              <a:t>Tuần 3 fit TRAIN + validation; notebook tuần 4 fit TRAIN_ONLY.</a:t>
            </a:r>
          </a:p>
        </p:txBody>
      </p:sp>
    </p:spTree>
    <p:extLst>
      <p:ext uri="{BB962C8B-B14F-4D97-AF65-F5344CB8AC3E}">
        <p14:creationId xmlns:p14="http://schemas.microsoft.com/office/powerpoint/2010/main" val="3717860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4E6463-15DC-4D41-90D1-1E45A0EF1138}"/>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Tín hiệu gần nhất giảm lỗi rõ nhất</a:t>
            </a:r>
          </a:p>
        </p:txBody>
      </p:sp>
      <p:sp>
        <p:nvSpPr>
          <p:cNvPr id="2" name="">
            <a:extLst xmlns:a="http://schemas.openxmlformats.org/drawingml/2006/main">
              <a:ext uri="{FF2B5EF4-FFF2-40B4-BE49-F238E27FC236}">
                <a16:creationId xmlns:a16="http://schemas.microsoft.com/office/drawing/2014/main" id="{99723B4B-1705-49BF-A442-7B1A73462700}"/>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báo cáo tuần 3 mục 7. WMAPE validation sau chặn âm và làm tròn.</a:t>
            </a:r>
          </a:p>
        </p:txBody>
      </p:sp>
      <p:sp>
        <p:nvSpPr>
          <p:cNvPr id="3" name="">
            <a:extLst xmlns:a="http://schemas.openxmlformats.org/drawingml/2006/main">
              <a:ext uri="{FF2B5EF4-FFF2-40B4-BE49-F238E27FC236}">
                <a16:creationId xmlns:a16="http://schemas.microsoft.com/office/drawing/2014/main" id="{25D82C22-EED6-461E-B762-FF8833A5670E}"/>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05</a:t>
            </a:r>
          </a:p>
        </p:txBody>
      </p:sp>
      <p:graphicFrame>
        <p:nvGraphicFramePr>
          <p:cNvPr id="4" name="">
            <a:extLst xmlns:a="http://schemas.openxmlformats.org/drawingml/2006/main">
              <a:ext uri="{FF2B5EF4-FFF2-40B4-BE49-F238E27FC236}">
                <a16:creationId xmlns:a16="http://schemas.microsoft.com/office/drawing/2014/main" id="{252217AD-5588-4A2A-BE49-9FB536B81A77}"/>
              </a:ext>
            </a:extLst>
          </p:cNvPr>
          <p:cNvGraphicFramePr/>
          <p:nvPr/>
        </p:nvGraphicFramePr>
        <p:xfrm>
          <a:off xmlns:a="http://schemas.openxmlformats.org/drawingml/2006/main" x="609600" y="1571625"/>
          <a:ext xmlns:a="http://schemas.openxmlformats.org/drawingml/2006/main" cx="10972800" cy="3524250"/>
        </p:xfrm>
        <a:graphic xmlns:a="http://schemas.openxmlformats.org/drawingml/2006/main">
          <a:graphicData uri="http://schemas.openxmlformats.org/drawingml/2006/table">
            <a:tbl>
              <a:tblPr/>
              <a:tblGrid>
                <a:gridCol w="3571875"/>
                <a:gridCol w="2286000"/>
                <a:gridCol w="2381250"/>
                <a:gridCol w="2733675"/>
              </a:tblGrid>
              <a:tr h="503464">
                <a:tc>
                  <a:txBody>
                    <a:bodyPr/>
                    <a:lstStyle/>
                    <a:p>
                      <a:r>
                        <a:rPr sz="1725" b="1">
                          <a:solidFill>
                            <a:srgbClr val="FFFFFF"/>
                          </a:solidFill>
                          <a:latin typeface="DejaVu Sans"/>
                          <a:ea typeface="DejaVu Sans"/>
                          <a:cs typeface="DejaVu Sans"/>
                        </a:rPr>
                        <a:t>Model</a:t>
                      </a:r>
                    </a:p>
                  </a:txBody>
                  <a:tcPr marL="91440" marR="91440" marT="45720" marB="45720">
                    <a:solidFill>
                      <a:srgbClr val="17343C"/>
                    </a:solidFill>
                  </a:tcPr>
                </a:tc>
                <a:tc>
                  <a:txBody>
                    <a:bodyPr/>
                    <a:lstStyle/>
                    <a:p>
                      <a:r>
                        <a:rPr sz="1725" b="1">
                          <a:solidFill>
                            <a:srgbClr val="FFFFFF"/>
                          </a:solidFill>
                          <a:latin typeface="DejaVu Sans"/>
                          <a:ea typeface="DejaVu Sans"/>
                          <a:cs typeface="DejaVu Sans"/>
                        </a:rPr>
                        <a:t>Nền</a:t>
                      </a:r>
                    </a:p>
                  </a:txBody>
                  <a:tcPr marL="91440" marR="91440" marT="45720" marB="45720">
                    <a:solidFill>
                      <a:srgbClr val="17343C"/>
                    </a:solidFill>
                  </a:tcPr>
                </a:tc>
                <a:tc>
                  <a:txBody>
                    <a:bodyPr/>
                    <a:lstStyle/>
                    <a:p>
                      <a:r>
                        <a:rPr sz="1725" b="1">
                          <a:solidFill>
                            <a:srgbClr val="FFFFFF"/>
                          </a:solidFill>
                          <a:latin typeface="DejaVu Sans"/>
                          <a:ea typeface="DejaVu Sans"/>
                          <a:cs typeface="DejaVu Sans"/>
                        </a:rPr>
                        <a:t>Dữ liệu gần</a:t>
                      </a:r>
                    </a:p>
                  </a:txBody>
                  <a:tcPr marL="91440" marR="91440" marT="45720" marB="45720">
                    <a:solidFill>
                      <a:srgbClr val="17343C"/>
                    </a:solidFill>
                  </a:tcPr>
                </a:tc>
                <a:tc>
                  <a:txBody>
                    <a:bodyPr/>
                    <a:lstStyle/>
                    <a:p>
                      <a:r>
                        <a:rPr sz="1725" b="1">
                          <a:solidFill>
                            <a:srgbClr val="FFFFFF"/>
                          </a:solidFill>
                          <a:latin typeface="DejaVu Sans"/>
                          <a:ea typeface="DejaVu Sans"/>
                          <a:cs typeface="DejaVu Sans"/>
                        </a:rPr>
                        <a:t>Gần + lân cận</a:t>
                      </a:r>
                    </a:p>
                  </a:txBody>
                  <a:tcPr marL="91440" marR="91440" marT="45720" marB="45720">
                    <a:solidFill>
                      <a:srgbClr val="17343C"/>
                    </a:solidFill>
                  </a:tcPr>
                </a:tc>
              </a:tr>
              <a:tr h="503464">
                <a:tc>
                  <a:txBody>
                    <a:bodyPr/>
                    <a:lstStyle/>
                    <a:p>
                      <a:r>
                        <a:rPr sz="1725" b="0">
                          <a:solidFill>
                            <a:srgbClr val="17343C"/>
                          </a:solidFill>
                          <a:latin typeface="DejaVu Sans"/>
                          <a:ea typeface="DejaVu Sans"/>
                          <a:cs typeface="DejaVu Sans"/>
                        </a:rPr>
                        <a:t>Car H10</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15,095%</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11,372%</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11,385%</a:t>
                      </a:r>
                    </a:p>
                  </a:txBody>
                  <a:tcPr marL="91440" marR="91440" marT="45720" marB="45720">
                    <a:solidFill>
                      <a:srgbClr val="FFFFFF"/>
                    </a:solidFill>
                  </a:tcPr>
                </a:tc>
              </a:tr>
              <a:tr h="503464">
                <a:tc>
                  <a:txBody>
                    <a:bodyPr/>
                    <a:lstStyle/>
                    <a:p>
                      <a:r>
                        <a:rPr sz="1725" b="0">
                          <a:solidFill>
                            <a:srgbClr val="17343C"/>
                          </a:solidFill>
                          <a:latin typeface="DejaVu Sans"/>
                          <a:ea typeface="DejaVu Sans"/>
                          <a:cs typeface="DejaVu Sans"/>
                        </a:rPr>
                        <a:t>Car H30</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16,152%</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11,102%</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11,074%</a:t>
                      </a:r>
                    </a:p>
                  </a:txBody>
                  <a:tcPr marL="91440" marR="91440" marT="45720" marB="45720">
                    <a:solidFill>
                      <a:srgbClr val="EDF5F4"/>
                    </a:solidFill>
                  </a:tcPr>
                </a:tc>
              </a:tr>
              <a:tr h="503464">
                <a:tc>
                  <a:txBody>
                    <a:bodyPr/>
                    <a:lstStyle/>
                    <a:p>
                      <a:r>
                        <a:rPr sz="1725" b="0">
                          <a:solidFill>
                            <a:srgbClr val="17343C"/>
                          </a:solidFill>
                          <a:latin typeface="DejaVu Sans"/>
                          <a:ea typeface="DejaVu Sans"/>
                          <a:cs typeface="DejaVu Sans"/>
                        </a:rPr>
                        <a:t>Car H60</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19,756%</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14,108%</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14,003%</a:t>
                      </a:r>
                    </a:p>
                  </a:txBody>
                  <a:tcPr marL="91440" marR="91440" marT="45720" marB="45720">
                    <a:solidFill>
                      <a:srgbClr val="FFFFFF"/>
                    </a:solidFill>
                  </a:tcPr>
                </a:tc>
              </a:tr>
              <a:tr h="503464">
                <a:tc>
                  <a:txBody>
                    <a:bodyPr/>
                    <a:lstStyle/>
                    <a:p>
                      <a:r>
                        <a:rPr sz="1725" b="0">
                          <a:solidFill>
                            <a:srgbClr val="17343C"/>
                          </a:solidFill>
                          <a:latin typeface="DejaVu Sans"/>
                          <a:ea typeface="DejaVu Sans"/>
                          <a:cs typeface="DejaVu Sans"/>
                        </a:rPr>
                        <a:t>Motorcycle H10</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14,727%</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11,162%</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11,168%</a:t>
                      </a:r>
                    </a:p>
                  </a:txBody>
                  <a:tcPr marL="91440" marR="91440" marT="45720" marB="45720">
                    <a:solidFill>
                      <a:srgbClr val="EDF5F4"/>
                    </a:solidFill>
                  </a:tcPr>
                </a:tc>
              </a:tr>
              <a:tr h="503464">
                <a:tc>
                  <a:txBody>
                    <a:bodyPr/>
                    <a:lstStyle/>
                    <a:p>
                      <a:r>
                        <a:rPr sz="1725" b="0">
                          <a:solidFill>
                            <a:srgbClr val="17343C"/>
                          </a:solidFill>
                          <a:latin typeface="DejaVu Sans"/>
                          <a:ea typeface="DejaVu Sans"/>
                          <a:cs typeface="DejaVu Sans"/>
                        </a:rPr>
                        <a:t>Motorcycle H30</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15,641%</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10,762%</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10,754%</a:t>
                      </a:r>
                    </a:p>
                  </a:txBody>
                  <a:tcPr marL="91440" marR="91440" marT="45720" marB="45720">
                    <a:solidFill>
                      <a:srgbClr val="FFFFFF"/>
                    </a:solidFill>
                  </a:tcPr>
                </a:tc>
              </a:tr>
              <a:tr h="503464">
                <a:tc>
                  <a:txBody>
                    <a:bodyPr/>
                    <a:lstStyle/>
                    <a:p>
                      <a:r>
                        <a:rPr sz="1725" b="0">
                          <a:solidFill>
                            <a:srgbClr val="17343C"/>
                          </a:solidFill>
                          <a:latin typeface="DejaVu Sans"/>
                          <a:ea typeface="DejaVu Sans"/>
                          <a:cs typeface="DejaVu Sans"/>
                        </a:rPr>
                        <a:t>Motorcycle H60</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19,317%</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13,700%</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13,664%</a:t>
                      </a:r>
                    </a:p>
                  </a:txBody>
                  <a:tcPr marL="91440" marR="91440" marT="45720" marB="45720">
                    <a:solidFill>
                      <a:srgbClr val="EDF5F4"/>
                    </a:solidFill>
                  </a:tcPr>
                </a:tc>
              </a:tr>
            </a:tbl>
          </a:graphicData>
        </a:graphic>
      </p:graphicFrame>
      <p:sp>
        <p:nvSpPr>
          <p:cNvPr id="5" name="">
            <a:extLst xmlns:a="http://schemas.openxmlformats.org/drawingml/2006/main">
              <a:ext uri="{FF2B5EF4-FFF2-40B4-BE49-F238E27FC236}">
                <a16:creationId xmlns:a16="http://schemas.microsoft.com/office/drawing/2014/main" id="{4E425277-C0FA-4D13-9C5F-848FD6ADBC29}"/>
              </a:ext>
            </a:extLst>
          </p:cNvPr>
          <p:cNvSpPr>
            <a:spLocks xmlns:a="http://schemas.openxmlformats.org/drawingml/2006/main" noGrp="1"/>
          </p:cNvSpPr>
          <p:nvPr/>
        </p:nvSpPr>
        <p:spPr>
          <a:xfrm xmlns:a="http://schemas.openxmlformats.org/drawingml/2006/main">
            <a:off x="609600" y="533400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343C"/>
                </a:solidFill>
                <a:latin typeface="DejaVu Sans"/>
                <a:ea typeface="DejaVu Sans"/>
                <a:cs typeface="DejaVu Sans"/>
              </a:defRPr>
            </a:defPPr>
          </a:lstStyle>
          <a:p xmlns:a="http://schemas.openxmlformats.org/drawingml/2006/main">
            <a:pPr>
              <a:defRPr sz="1950" b="0">
                <a:solidFill>
                  <a:srgbClr val="17343C"/>
                </a:solidFill>
                <a:latin typeface="DejaVu Sans"/>
                <a:ea typeface="DejaVu Sans"/>
                <a:cs typeface="DejaVu Sans"/>
              </a:defRPr>
            </a:pPr>
            <a:r>
              <a:rPr sz="1950" b="0">
                <a:solidFill>
                  <a:srgbClr val="17343C"/>
                </a:solidFill>
                <a:latin typeface="DejaVu Sans"/>
                <a:ea typeface="DejaVu Sans"/>
                <a:cs typeface="DejaVu Sans"/>
              </a:rPr>
              <a:t>H10 dùng 25 feature. H30/H60 dùng 33 feature.</a:t>
            </a:r>
          </a:p>
          <a:p xmlns:a="http://schemas.openxmlformats.org/drawingml/2006/main">
            <a:pPr>
              <a:defRPr sz="1950" b="0">
                <a:solidFill>
                  <a:srgbClr val="17343C"/>
                </a:solidFill>
                <a:latin typeface="DejaVu Sans"/>
                <a:ea typeface="DejaVu Sans"/>
                <a:cs typeface="DejaVu Sans"/>
              </a:defRPr>
            </a:pPr>
            <a:r>
              <a:rPr sz="1950" b="0">
                <a:solidFill>
                  <a:srgbClr val="17343C"/>
                </a:solidFill>
                <a:latin typeface="DejaVu Sans"/>
                <a:ea typeface="DejaVu Sans"/>
                <a:cs typeface="DejaVu Sans"/>
              </a:rPr>
              <a:t>Lợi ích phụ thuộc bucket gần nhất đã có trước thời điểm dự báo.</a:t>
            </a:r>
          </a:p>
        </p:txBody>
      </p:sp>
    </p:spTree>
    <p:extLst>
      <p:ext uri="{BB962C8B-B14F-4D97-AF65-F5344CB8AC3E}">
        <p14:creationId xmlns:p14="http://schemas.microsoft.com/office/powerpoint/2010/main" val="18216226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7032A0-0CE2-4912-BCA8-855D5AE07E94}"/>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WMAPE giảm ở cả sáu mô hình</a:t>
            </a:r>
          </a:p>
        </p:txBody>
      </p:sp>
      <p:sp>
        <p:nvSpPr>
          <p:cNvPr id="2" name="">
            <a:extLst xmlns:a="http://schemas.openxmlformats.org/drawingml/2006/main">
              <a:ext uri="{FF2B5EF4-FFF2-40B4-BE49-F238E27FC236}">
                <a16:creationId xmlns:a16="http://schemas.microsoft.com/office/drawing/2014/main" id="{BD203D0C-2481-4C7C-A7CC-9A61A7BE667D}"/>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báo cáo tuần 3 mục 8–9. Cũ là float, mới đã làm tròn.</a:t>
            </a:r>
          </a:p>
        </p:txBody>
      </p:sp>
      <p:sp>
        <p:nvSpPr>
          <p:cNvPr id="3" name="">
            <a:extLst xmlns:a="http://schemas.openxmlformats.org/drawingml/2006/main">
              <a:ext uri="{FF2B5EF4-FFF2-40B4-BE49-F238E27FC236}">
                <a16:creationId xmlns:a16="http://schemas.microsoft.com/office/drawing/2014/main" id="{62827812-28DE-4B07-BCC3-2098A2F2BC88}"/>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06</a:t>
            </a:r>
          </a:p>
        </p:txBody>
      </p:sp>
      <p:graphicFrame>
        <p:nvGraphicFramePr>
          <p:cNvPr id="4" name="Chart">
            <a:extLst xmlns:a="http://schemas.openxmlformats.org/drawingml/2006/main">
              <a:ext uri="{FF2B5EF4-FFF2-40B4-BE49-F238E27FC236}">
                <a16:creationId xmlns:a16="http://schemas.microsoft.com/office/drawing/2014/main" id="{956748A6-F28F-454B-AFAA-0819D63F6200}"/>
              </a:ext>
            </a:extLst>
          </p:cNvPr>
          <p:cNvGraphicFramePr/>
          <p:nvPr/>
        </p:nvGraphicFramePr>
        <p:xfrm>
          <a:off xmlns:a="http://schemas.openxmlformats.org/drawingml/2006/main" x="609600" y="1714500"/>
          <a:ext xmlns:a="http://schemas.openxmlformats.org/drawingml/2006/main" cx="10810875" cy="3571875"/>
        </p:xfrm>
        <a:graphic xmlns:a="http://schemas.openxmlformats.org/drawingml/2006/main">
          <a:graphicData uri="http://schemas.openxmlformats.org/drawingml/2006/chart">
            <c:chart xmlns:r="http://schemas.openxmlformats.org/officeDocument/2006/relationships" xmlns:c="http://schemas.openxmlformats.org/drawingml/2006/chart" r:id="Ra17ca903f5994e84"/>
          </a:graphicData>
        </a:graphic>
      </p:graphicFrame>
      <p:sp>
        <p:nvSpPr>
          <p:cNvPr id="5" name="">
            <a:extLst xmlns:a="http://schemas.openxmlformats.org/drawingml/2006/main">
              <a:ext uri="{FF2B5EF4-FFF2-40B4-BE49-F238E27FC236}">
                <a16:creationId xmlns:a16="http://schemas.microsoft.com/office/drawing/2014/main" id="{2271081E-6BE3-459A-91C5-6B44D8B3F654}"/>
              </a:ext>
            </a:extLst>
          </p:cNvPr>
          <p:cNvSpPr>
            <a:spLocks xmlns:a="http://schemas.openxmlformats.org/drawingml/2006/main" noGrp="1"/>
          </p:cNvSpPr>
          <p:nvPr/>
        </p:nvSpPr>
        <p:spPr>
          <a:xfrm xmlns:a="http://schemas.openxmlformats.org/drawingml/2006/main">
            <a:off x="609600" y="5467350"/>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43C"/>
                </a:solidFill>
                <a:latin typeface="DejaVu Sans"/>
                <a:ea typeface="DejaVu Sans"/>
                <a:cs typeface="DejaVu Sans"/>
              </a:defRPr>
            </a:defPPr>
          </a:lstStyle>
          <a:p xmlns:a="http://schemas.openxmlformats.org/drawingml/2006/main">
            <a:pPr>
              <a:defRPr sz="2025" b="0">
                <a:solidFill>
                  <a:srgbClr val="17343C"/>
                </a:solidFill>
                <a:latin typeface="DejaVu Sans"/>
                <a:ea typeface="DejaVu Sans"/>
                <a:cs typeface="DejaVu Sans"/>
              </a:defRPr>
            </a:pPr>
            <a:r>
              <a:rPr sz="2025" b="0">
                <a:solidFill>
                  <a:srgbClr val="17343C"/>
                </a:solidFill>
                <a:latin typeface="DejaVu Sans"/>
                <a:ea typeface="DejaVu Sans"/>
                <a:cs typeface="DejaVu Sans"/>
              </a:rPr>
              <a:t>WMAPE TEST sau cập nhật: 10,603–14,127%.</a:t>
            </a:r>
          </a:p>
          <a:p xmlns:a="http://schemas.openxmlformats.org/drawingml/2006/main">
            <a:pPr>
              <a:defRPr sz="2025" b="0">
                <a:solidFill>
                  <a:srgbClr val="17343C"/>
                </a:solidFill>
                <a:latin typeface="DejaVu Sans"/>
                <a:ea typeface="DejaVu Sans"/>
                <a:cs typeface="DejaVu Sans"/>
              </a:defRPr>
            </a:pPr>
            <a:r>
              <a:rPr sz="2025" b="0">
                <a:solidFill>
                  <a:srgbClr val="17343C"/>
                </a:solidFill>
                <a:latin typeface="DejaVu Sans"/>
                <a:ea typeface="DejaVu Sans"/>
                <a:cs typeface="DejaVu Sans"/>
              </a:rPr>
              <a:t>H60 vẫn có sai số cao hơn trong từng phương tiện.</a:t>
            </a:r>
          </a:p>
        </p:txBody>
      </p:sp>
    </p:spTree>
    <p:extLst>
      <p:ext uri="{BB962C8B-B14F-4D97-AF65-F5344CB8AC3E}">
        <p14:creationId xmlns:p14="http://schemas.microsoft.com/office/powerpoint/2010/main" val="1844021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F4834D-B7E4-4574-B9F2-21AB234F72A4}"/>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Dự báo bám mức tăng nhưng chưa đủ</a:t>
            </a:r>
          </a:p>
        </p:txBody>
      </p:sp>
      <p:sp>
        <p:nvSpPr>
          <p:cNvPr id="2" name="">
            <a:extLst xmlns:a="http://schemas.openxmlformats.org/drawingml/2006/main">
              <a:ext uri="{FF2B5EF4-FFF2-40B4-BE49-F238E27FC236}">
                <a16:creationId xmlns:a16="http://schemas.microsoft.com/office/drawing/2014/main" id="{1876CE49-FDCC-4F58-9DBA-3B40D024FCAD}"/>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báo cáo tuần 3 mục 12. Tổng nhãn H30/H60 có chồng lấn.</a:t>
            </a:r>
          </a:p>
        </p:txBody>
      </p:sp>
      <p:sp>
        <p:nvSpPr>
          <p:cNvPr id="3" name="">
            <a:extLst xmlns:a="http://schemas.openxmlformats.org/drawingml/2006/main">
              <a:ext uri="{FF2B5EF4-FFF2-40B4-BE49-F238E27FC236}">
                <a16:creationId xmlns:a16="http://schemas.microsoft.com/office/drawing/2014/main" id="{3691B354-D795-4FF4-9F72-C6F414EA22F9}"/>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07</a:t>
            </a:r>
          </a:p>
        </p:txBody>
      </p:sp>
      <p:graphicFrame>
        <p:nvGraphicFramePr>
          <p:cNvPr id="4" name="Chart">
            <a:extLst xmlns:a="http://schemas.openxmlformats.org/drawingml/2006/main">
              <a:ext uri="{FF2B5EF4-FFF2-40B4-BE49-F238E27FC236}">
                <a16:creationId xmlns:a16="http://schemas.microsoft.com/office/drawing/2014/main" id="{551137E2-090C-4782-B2A9-37E07B3965E3}"/>
              </a:ext>
            </a:extLst>
          </p:cNvPr>
          <p:cNvGraphicFramePr/>
          <p:nvPr/>
        </p:nvGraphicFramePr>
        <p:xfrm>
          <a:off xmlns:a="http://schemas.openxmlformats.org/drawingml/2006/main" x="609600" y="1714500"/>
          <a:ext xmlns:a="http://schemas.openxmlformats.org/drawingml/2006/main" cx="10810875" cy="3571875"/>
        </p:xfrm>
        <a:graphic xmlns:a="http://schemas.openxmlformats.org/drawingml/2006/main">
          <a:graphicData uri="http://schemas.openxmlformats.org/drawingml/2006/chart">
            <c:chart xmlns:r="http://schemas.openxmlformats.org/officeDocument/2006/relationships" xmlns:c="http://schemas.openxmlformats.org/drawingml/2006/chart" r:id="Rb49d730327d34526"/>
          </a:graphicData>
        </a:graphic>
      </p:graphicFrame>
      <p:sp>
        <p:nvSpPr>
          <p:cNvPr id="5" name="">
            <a:extLst xmlns:a="http://schemas.openxmlformats.org/drawingml/2006/main">
              <a:ext uri="{FF2B5EF4-FFF2-40B4-BE49-F238E27FC236}">
                <a16:creationId xmlns:a16="http://schemas.microsoft.com/office/drawing/2014/main" id="{D8940B17-94BB-46B5-AE7B-7170816506F3}"/>
              </a:ext>
            </a:extLst>
          </p:cNvPr>
          <p:cNvSpPr>
            <a:spLocks xmlns:a="http://schemas.openxmlformats.org/drawingml/2006/main" noGrp="1"/>
          </p:cNvSpPr>
          <p:nvPr/>
        </p:nvSpPr>
        <p:spPr>
          <a:xfrm xmlns:a="http://schemas.openxmlformats.org/drawingml/2006/main">
            <a:off x="609600" y="54673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43C"/>
                </a:solidFill>
                <a:latin typeface="DejaVu Sans"/>
                <a:ea typeface="DejaVu Sans"/>
                <a:cs typeface="DejaVu Sans"/>
              </a:defRPr>
            </a:defPPr>
          </a:lstStyle>
          <a:p xmlns:a="http://schemas.openxmlformats.org/drawingml/2006/main">
            <a:pPr>
              <a:defRPr sz="2025" b="0">
                <a:solidFill>
                  <a:srgbClr val="17343C"/>
                </a:solidFill>
                <a:latin typeface="DejaVu Sans"/>
                <a:ea typeface="DejaVu Sans"/>
                <a:cs typeface="DejaVu Sans"/>
              </a:defRPr>
            </a:pPr>
            <a:r>
              <a:rPr sz="2025" b="0">
                <a:solidFill>
                  <a:srgbClr val="17343C"/>
                </a:solidFill>
                <a:latin typeface="DejaVu Sans"/>
                <a:ea typeface="DejaVu Sans"/>
                <a:cs typeface="DejaVu Sans"/>
              </a:rPr>
              <a:t>Car H60 còn thiếu khoảng 3,417 điểm phần trăm về mức tăng.</a:t>
            </a:r>
          </a:p>
          <a:p xmlns:a="http://schemas.openxmlformats.org/drawingml/2006/main">
            <a:pPr>
              <a:defRPr sz="2025" b="0">
                <a:solidFill>
                  <a:srgbClr val="17343C"/>
                </a:solidFill>
                <a:latin typeface="DejaVu Sans"/>
                <a:ea typeface="DejaVu Sans"/>
                <a:cs typeface="DejaVu Sans"/>
              </a:defRPr>
            </a:pPr>
            <a:r>
              <a:rPr sz="2025" b="0">
                <a:solidFill>
                  <a:srgbClr val="17343C"/>
                </a:solidFill>
                <a:latin typeface="DejaVu Sans"/>
                <a:ea typeface="DejaVu Sans"/>
                <a:cs typeface="DejaVu Sans"/>
              </a:rPr>
              <a:t>Tương quan theo ngày cao chưa bảo đảm đúng lượng demand.</a:t>
            </a:r>
          </a:p>
        </p:txBody>
      </p:sp>
    </p:spTree>
    <p:extLst>
      <p:ext uri="{BB962C8B-B14F-4D97-AF65-F5344CB8AC3E}">
        <p14:creationId xmlns:p14="http://schemas.microsoft.com/office/powerpoint/2010/main" val="15565948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383E0B-8BCA-4718-AD41-120A903C2A47}"/>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Biến động đột ngột vẫn là điểm yếu</a:t>
            </a:r>
          </a:p>
        </p:txBody>
      </p:sp>
      <p:sp>
        <p:nvSpPr>
          <p:cNvPr id="2" name="">
            <a:extLst xmlns:a="http://schemas.openxmlformats.org/drawingml/2006/main">
              <a:ext uri="{FF2B5EF4-FFF2-40B4-BE49-F238E27FC236}">
                <a16:creationId xmlns:a16="http://schemas.microsoft.com/office/drawing/2014/main" id="{2802D726-A685-48AE-A843-12027030917B}"/>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báo cáo tuần 3 mục 13. Các nhóm sự kiện khác nhau giữa horizon.</a:t>
            </a:r>
          </a:p>
        </p:txBody>
      </p:sp>
      <p:sp>
        <p:nvSpPr>
          <p:cNvPr id="3" name="">
            <a:extLst xmlns:a="http://schemas.openxmlformats.org/drawingml/2006/main">
              <a:ext uri="{FF2B5EF4-FFF2-40B4-BE49-F238E27FC236}">
                <a16:creationId xmlns:a16="http://schemas.microsoft.com/office/drawing/2014/main" id="{96468FE1-73B1-4AEE-B8D0-8FEBCA594A9B}"/>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08</a:t>
            </a:r>
          </a:p>
        </p:txBody>
      </p:sp>
      <p:graphicFrame>
        <p:nvGraphicFramePr>
          <p:cNvPr id="4" name="Chart">
            <a:extLst xmlns:a="http://schemas.openxmlformats.org/drawingml/2006/main">
              <a:ext uri="{FF2B5EF4-FFF2-40B4-BE49-F238E27FC236}">
                <a16:creationId xmlns:a16="http://schemas.microsoft.com/office/drawing/2014/main" id="{A3A625BE-02E8-40C9-B643-D4D1ABED8382}"/>
              </a:ext>
            </a:extLst>
          </p:cNvPr>
          <p:cNvGraphicFramePr/>
          <p:nvPr/>
        </p:nvGraphicFramePr>
        <p:xfrm>
          <a:off xmlns:a="http://schemas.openxmlformats.org/drawingml/2006/main" x="609600" y="1714500"/>
          <a:ext xmlns:a="http://schemas.openxmlformats.org/drawingml/2006/main" cx="10810875" cy="3571875"/>
        </p:xfrm>
        <a:graphic xmlns:a="http://schemas.openxmlformats.org/drawingml/2006/main">
          <a:graphicData uri="http://schemas.openxmlformats.org/drawingml/2006/chart">
            <c:chart xmlns:r="http://schemas.openxmlformats.org/officeDocument/2006/relationships" xmlns:c="http://schemas.openxmlformats.org/drawingml/2006/chart" r:id="Rd65eddc42f60485e"/>
          </a:graphicData>
        </a:graphic>
      </p:graphicFrame>
      <p:sp>
        <p:nvSpPr>
          <p:cNvPr id="5" name="">
            <a:extLst xmlns:a="http://schemas.openxmlformats.org/drawingml/2006/main">
              <a:ext uri="{FF2B5EF4-FFF2-40B4-BE49-F238E27FC236}">
                <a16:creationId xmlns:a16="http://schemas.microsoft.com/office/drawing/2014/main" id="{9F8B338C-CBFE-491E-B3C2-4D474CDFE61E}"/>
              </a:ext>
            </a:extLst>
          </p:cNvPr>
          <p:cNvSpPr>
            <a:spLocks xmlns:a="http://schemas.openxmlformats.org/drawingml/2006/main" noGrp="1"/>
          </p:cNvSpPr>
          <p:nvPr/>
        </p:nvSpPr>
        <p:spPr>
          <a:xfrm xmlns:a="http://schemas.openxmlformats.org/drawingml/2006/main">
            <a:off x="609600" y="54673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43C"/>
                </a:solidFill>
                <a:latin typeface="DejaVu Sans"/>
                <a:ea typeface="DejaVu Sans"/>
                <a:cs typeface="DejaVu Sans"/>
              </a:defRPr>
            </a:defPPr>
          </a:lstStyle>
          <a:p xmlns:a="http://schemas.openxmlformats.org/drawingml/2006/main">
            <a:pPr>
              <a:defRPr sz="2025" b="0">
                <a:solidFill>
                  <a:srgbClr val="17343C"/>
                </a:solidFill>
                <a:latin typeface="DejaVu Sans"/>
                <a:ea typeface="DejaVu Sans"/>
                <a:cs typeface="DejaVu Sans"/>
              </a:defRPr>
            </a:pPr>
            <a:r>
              <a:rPr sz="2025" b="0">
                <a:solidFill>
                  <a:srgbClr val="17343C"/>
                </a:solidFill>
                <a:latin typeface="DejaVu Sans"/>
                <a:ea typeface="DejaVu Sans"/>
                <a:cs typeface="DejaVu Sans"/>
              </a:rPr>
              <a:t>Car H60: WMAPE 42,272% khi tăng và 64,493% khi giảm.</a:t>
            </a:r>
          </a:p>
          <a:p xmlns:a="http://schemas.openxmlformats.org/drawingml/2006/main">
            <a:pPr>
              <a:defRPr sz="2025" b="0">
                <a:solidFill>
                  <a:srgbClr val="17343C"/>
                </a:solidFill>
                <a:latin typeface="DejaVu Sans"/>
                <a:ea typeface="DejaVu Sans"/>
                <a:cs typeface="DejaVu Sans"/>
              </a:defRPr>
            </a:pPr>
            <a:r>
              <a:rPr sz="2025" b="0">
                <a:solidFill>
                  <a:srgbClr val="17343C"/>
                </a:solidFill>
                <a:latin typeface="DejaVu Sans"/>
                <a:ea typeface="DejaVu Sans"/>
                <a:cs typeface="DejaVu Sans"/>
              </a:rPr>
              <a:t>Cần kiểm tra chuỗi theo từng hex và sự kiện.</a:t>
            </a:r>
          </a:p>
        </p:txBody>
      </p:sp>
    </p:spTree>
    <p:extLst>
      <p:ext uri="{BB962C8B-B14F-4D97-AF65-F5344CB8AC3E}">
        <p14:creationId xmlns:p14="http://schemas.microsoft.com/office/powerpoint/2010/main" val="11397107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498A29-71F7-4563-9F14-629215433A4F}"/>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Kết quả tại các dòng actual lớn hơn 30</a:t>
            </a:r>
          </a:p>
        </p:txBody>
      </p:sp>
      <p:sp>
        <p:nvSpPr>
          <p:cNvPr id="2" name="">
            <a:extLst xmlns:a="http://schemas.openxmlformats.org/drawingml/2006/main">
              <a:ext uri="{FF2B5EF4-FFF2-40B4-BE49-F238E27FC236}">
                <a16:creationId xmlns:a16="http://schemas.microsoft.com/office/drawing/2014/main" id="{7B4DF819-417B-4059-A6A2-F2EA703C822A}"/>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hieuchinh (1).ipynb cell 16, 18, 20. Model fit TRAIN_ONLY.</a:t>
            </a:r>
          </a:p>
        </p:txBody>
      </p:sp>
      <p:sp>
        <p:nvSpPr>
          <p:cNvPr id="3" name="">
            <a:extLst xmlns:a="http://schemas.openxmlformats.org/drawingml/2006/main">
              <a:ext uri="{FF2B5EF4-FFF2-40B4-BE49-F238E27FC236}">
                <a16:creationId xmlns:a16="http://schemas.microsoft.com/office/drawing/2014/main" id="{16C1493B-589C-426D-B05B-2D6871FC38D6}"/>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09</a:t>
            </a:r>
          </a:p>
        </p:txBody>
      </p:sp>
      <p:graphicFrame>
        <p:nvGraphicFramePr>
          <p:cNvPr id="4" name="">
            <a:extLst xmlns:a="http://schemas.openxmlformats.org/drawingml/2006/main">
              <a:ext uri="{FF2B5EF4-FFF2-40B4-BE49-F238E27FC236}">
                <a16:creationId xmlns:a16="http://schemas.microsoft.com/office/drawing/2014/main" id="{D1CBC05F-1B6A-46B1-B444-88D87B752973}"/>
              </a:ext>
            </a:extLst>
          </p:cNvPr>
          <p:cNvGraphicFramePr/>
          <p:nvPr/>
        </p:nvGraphicFramePr>
        <p:xfrm>
          <a:off xmlns:a="http://schemas.openxmlformats.org/drawingml/2006/main" x="609600" y="1571625"/>
          <a:ext xmlns:a="http://schemas.openxmlformats.org/drawingml/2006/main" cx="10972800" cy="3571875"/>
        </p:xfrm>
        <a:graphic xmlns:a="http://schemas.openxmlformats.org/drawingml/2006/main">
          <a:graphicData uri="http://schemas.openxmlformats.org/drawingml/2006/table">
            <a:tbl>
              <a:tblPr/>
              <a:tblGrid>
                <a:gridCol w="3857625"/>
                <a:gridCol w="2371725"/>
                <a:gridCol w="2371725"/>
                <a:gridCol w="2371725"/>
              </a:tblGrid>
              <a:tr h="510268">
                <a:tc>
                  <a:txBody>
                    <a:bodyPr/>
                    <a:lstStyle/>
                    <a:p>
                      <a:r>
                        <a:rPr sz="1800" b="1">
                          <a:solidFill>
                            <a:srgbClr val="FFFFFF"/>
                          </a:solidFill>
                          <a:latin typeface="DejaVu Sans"/>
                          <a:ea typeface="DejaVu Sans"/>
                          <a:cs typeface="DejaVu Sans"/>
                        </a:rPr>
                        <a:t>Model</a:t>
                      </a:r>
                    </a:p>
                  </a:txBody>
                  <a:tcPr marL="91440" marR="91440" marT="45720" marB="45720">
                    <a:solidFill>
                      <a:srgbClr val="17343C"/>
                    </a:solidFill>
                  </a:tcPr>
                </a:tc>
                <a:tc>
                  <a:txBody>
                    <a:bodyPr/>
                    <a:lstStyle/>
                    <a:p>
                      <a:r>
                        <a:rPr sz="1800" b="1">
                          <a:solidFill>
                            <a:srgbClr val="FFFFFF"/>
                          </a:solidFill>
                          <a:latin typeface="DejaVu Sans"/>
                          <a:ea typeface="DejaVu Sans"/>
                          <a:cs typeface="DejaVu Sans"/>
                        </a:rPr>
                        <a:t>WMAPE</a:t>
                      </a:r>
                    </a:p>
                  </a:txBody>
                  <a:tcPr marL="91440" marR="91440" marT="45720" marB="45720">
                    <a:solidFill>
                      <a:srgbClr val="17343C"/>
                    </a:solidFill>
                  </a:tcPr>
                </a:tc>
                <a:tc>
                  <a:txBody>
                    <a:bodyPr/>
                    <a:lstStyle/>
                    <a:p>
                      <a:r>
                        <a:rPr sz="1800" b="1">
                          <a:solidFill>
                            <a:srgbClr val="FFFFFF"/>
                          </a:solidFill>
                          <a:latin typeface="DejaVu Sans"/>
                          <a:ea typeface="DejaVu Sans"/>
                          <a:cs typeface="DejaVu Sans"/>
                        </a:rPr>
                        <a:t>Bias</a:t>
                      </a:r>
                    </a:p>
                  </a:txBody>
                  <a:tcPr marL="91440" marR="91440" marT="45720" marB="45720">
                    <a:solidFill>
                      <a:srgbClr val="17343C"/>
                    </a:solidFill>
                  </a:tcPr>
                </a:tc>
                <a:tc>
                  <a:txBody>
                    <a:bodyPr/>
                    <a:lstStyle/>
                    <a:p>
                      <a:r>
                        <a:rPr sz="1800" b="1">
                          <a:solidFill>
                            <a:srgbClr val="FFFFFF"/>
                          </a:solidFill>
                          <a:latin typeface="DejaVu Sans"/>
                          <a:ea typeface="DejaVu Sans"/>
                          <a:cs typeface="DejaVu Sans"/>
                        </a:rPr>
                        <a:t>Trong ±15%</a:t>
                      </a:r>
                    </a:p>
                  </a:txBody>
                  <a:tcPr marL="91440" marR="91440" marT="45720" marB="45720">
                    <a:solidFill>
                      <a:srgbClr val="17343C"/>
                    </a:solidFill>
                  </a:tcPr>
                </a:tc>
              </a:tr>
              <a:tr h="510268">
                <a:tc>
                  <a:txBody>
                    <a:bodyPr/>
                    <a:lstStyle/>
                    <a:p>
                      <a:r>
                        <a:rPr sz="1800" b="0">
                          <a:solidFill>
                            <a:srgbClr val="17343C"/>
                          </a:solidFill>
                          <a:latin typeface="DejaVu Sans"/>
                          <a:ea typeface="DejaVu Sans"/>
                          <a:cs typeface="DejaVu Sans"/>
                        </a:rPr>
                        <a:t>Car H10</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11,22%</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-2,43%</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69,89%</a:t>
                      </a:r>
                    </a:p>
                  </a:txBody>
                  <a:tcPr marL="91440" marR="91440" marT="45720" marB="45720">
                    <a:solidFill>
                      <a:srgbClr val="FFFFFF"/>
                    </a:solidFill>
                  </a:tcPr>
                </a:tc>
              </a:tr>
              <a:tr h="510268">
                <a:tc>
                  <a:txBody>
                    <a:bodyPr/>
                    <a:lstStyle/>
                    <a:p>
                      <a:r>
                        <a:rPr sz="1800" b="0">
                          <a:solidFill>
                            <a:srgbClr val="17343C"/>
                          </a:solidFill>
                          <a:latin typeface="DejaVu Sans"/>
                          <a:ea typeface="DejaVu Sans"/>
                          <a:cs typeface="DejaVu Sans"/>
                        </a:rPr>
                        <a:t>Car H30</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11,12%</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-1,43%</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71,24%</a:t>
                      </a:r>
                    </a:p>
                  </a:txBody>
                  <a:tcPr marL="91440" marR="91440" marT="45720" marB="45720">
                    <a:solidFill>
                      <a:srgbClr val="EDF5F4"/>
                    </a:solidFill>
                  </a:tcPr>
                </a:tc>
              </a:tr>
              <a:tr h="510268">
                <a:tc>
                  <a:txBody>
                    <a:bodyPr/>
                    <a:lstStyle/>
                    <a:p>
                      <a:r>
                        <a:rPr sz="1800" b="0">
                          <a:solidFill>
                            <a:srgbClr val="17343C"/>
                          </a:solidFill>
                          <a:latin typeface="DejaVu Sans"/>
                          <a:ea typeface="DejaVu Sans"/>
                          <a:cs typeface="DejaVu Sans"/>
                        </a:rPr>
                        <a:t>Car H60</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14,11%</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-1,27%</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60,84%</a:t>
                      </a:r>
                    </a:p>
                  </a:txBody>
                  <a:tcPr marL="91440" marR="91440" marT="45720" marB="45720">
                    <a:solidFill>
                      <a:srgbClr val="FFFFFF"/>
                    </a:solidFill>
                  </a:tcPr>
                </a:tc>
              </a:tr>
              <a:tr h="510268">
                <a:tc>
                  <a:txBody>
                    <a:bodyPr/>
                    <a:lstStyle/>
                    <a:p>
                      <a:r>
                        <a:rPr sz="1800" b="0">
                          <a:solidFill>
                            <a:srgbClr val="17343C"/>
                          </a:solidFill>
                          <a:latin typeface="DejaVu Sans"/>
                          <a:ea typeface="DejaVu Sans"/>
                          <a:cs typeface="DejaVu Sans"/>
                        </a:rPr>
                        <a:t>Motorcycle H10</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10,34%</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-1,47%</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73,06%</a:t>
                      </a:r>
                    </a:p>
                  </a:txBody>
                  <a:tcPr marL="91440" marR="91440" marT="45720" marB="45720">
                    <a:solidFill>
                      <a:srgbClr val="EDF5F4"/>
                    </a:solidFill>
                  </a:tcPr>
                </a:tc>
              </a:tr>
              <a:tr h="510268">
                <a:tc>
                  <a:txBody>
                    <a:bodyPr/>
                    <a:lstStyle/>
                    <a:p>
                      <a:r>
                        <a:rPr sz="1800" b="0">
                          <a:solidFill>
                            <a:srgbClr val="17343C"/>
                          </a:solidFill>
                          <a:latin typeface="DejaVu Sans"/>
                          <a:ea typeface="DejaVu Sans"/>
                          <a:cs typeface="DejaVu Sans"/>
                        </a:rPr>
                        <a:t>Motorcycle H30</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10,22%</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-0,73%</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72,70%</a:t>
                      </a:r>
                    </a:p>
                  </a:txBody>
                  <a:tcPr marL="91440" marR="91440" marT="45720" marB="45720">
                    <a:solidFill>
                      <a:srgbClr val="FFFFFF"/>
                    </a:solidFill>
                  </a:tcPr>
                </a:tc>
              </a:tr>
              <a:tr h="510268">
                <a:tc>
                  <a:txBody>
                    <a:bodyPr/>
                    <a:lstStyle/>
                    <a:p>
                      <a:r>
                        <a:rPr sz="1800" b="0">
                          <a:solidFill>
                            <a:srgbClr val="17343C"/>
                          </a:solidFill>
                          <a:latin typeface="DejaVu Sans"/>
                          <a:ea typeface="DejaVu Sans"/>
                          <a:cs typeface="DejaVu Sans"/>
                        </a:rPr>
                        <a:t>Motorcycle H60</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13,22%</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-0,66%</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58,79%</a:t>
                      </a:r>
                    </a:p>
                  </a:txBody>
                  <a:tcPr marL="91440" marR="91440" marT="45720" marB="45720">
                    <a:solidFill>
                      <a:srgbClr val="EDF5F4"/>
                    </a:solidFill>
                  </a:tcPr>
                </a:tc>
              </a:tr>
            </a:tbl>
          </a:graphicData>
        </a:graphic>
      </p:graphicFrame>
      <p:sp>
        <p:nvSpPr>
          <p:cNvPr id="5" name="">
            <a:extLst xmlns:a="http://schemas.openxmlformats.org/drawingml/2006/main">
              <a:ext uri="{FF2B5EF4-FFF2-40B4-BE49-F238E27FC236}">
                <a16:creationId xmlns:a16="http://schemas.microsoft.com/office/drawing/2014/main" id="{20BDFDB5-8964-4348-B5EC-53AF69E8B9A2}"/>
              </a:ext>
            </a:extLst>
          </p:cNvPr>
          <p:cNvSpPr>
            <a:spLocks xmlns:a="http://schemas.openxmlformats.org/drawingml/2006/main" noGrp="1"/>
          </p:cNvSpPr>
          <p:nvPr/>
        </p:nvSpPr>
        <p:spPr>
          <a:xfrm xmlns:a="http://schemas.openxmlformats.org/drawingml/2006/main">
            <a:off x="609600" y="53816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3C"/>
                </a:solidFill>
                <a:latin typeface="DejaVu Sans"/>
                <a:ea typeface="DejaVu Sans"/>
                <a:cs typeface="DejaVu Sans"/>
              </a:defRPr>
            </a:defPPr>
          </a:lstStyle>
          <a:p xmlns:a="http://schemas.openxmlformats.org/drawingml/2006/main">
            <a:pPr>
              <a:defRPr sz="2100" b="0">
                <a:solidFill>
                  <a:srgbClr val="17343C"/>
                </a:solidFill>
                <a:latin typeface="DejaVu Sans"/>
                <a:ea typeface="DejaVu Sans"/>
                <a:cs typeface="DejaVu Sans"/>
              </a:defRPr>
            </a:pPr>
            <a:r>
              <a:rPr sz="2100" b="0">
                <a:solidFill>
                  <a:srgbClr val="17343C"/>
                </a:solidFill>
                <a:latin typeface="DejaVu Sans"/>
                <a:ea typeface="DejaVu Sans"/>
                <a:cs typeface="DejaVu Sans"/>
              </a:rPr>
              <a:t>Tập lọc khác nhau giữa các horizon.</a:t>
            </a:r>
          </a:p>
          <a:p xmlns:a="http://schemas.openxmlformats.org/drawingml/2006/main">
            <a:pPr>
              <a:defRPr sz="2100" b="0">
                <a:solidFill>
                  <a:srgbClr val="17343C"/>
                </a:solidFill>
                <a:latin typeface="DejaVu Sans"/>
                <a:ea typeface="DejaVu Sans"/>
                <a:cs typeface="DejaVu Sans"/>
              </a:defRPr>
            </a:pPr>
            <a:r>
              <a:rPr sz="2100" b="0">
                <a:solidFill>
                  <a:srgbClr val="17343C"/>
                </a:solidFill>
                <a:latin typeface="DejaVu Sans"/>
                <a:ea typeface="DejaVu Sans"/>
                <a:cs typeface="DejaVu Sans"/>
              </a:rPr>
              <a:t>Bias nhỏ vẫn có thể đi cùng nhiều dòng dự báo sai.</a:t>
            </a:r>
          </a:p>
        </p:txBody>
      </p:sp>
    </p:spTree>
    <p:extLst>
      <p:ext uri="{BB962C8B-B14F-4D97-AF65-F5344CB8AC3E}">
        <p14:creationId xmlns:p14="http://schemas.microsoft.com/office/powerpoint/2010/main" val="5674730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4929C6-CA65-4429-ACDD-DC946A2E7F29}"/>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Giữ prediction gốc ở phiên bản hiện tại</a:t>
            </a:r>
          </a:p>
        </p:txBody>
      </p:sp>
      <p:sp>
        <p:nvSpPr>
          <p:cNvPr id="2" name="">
            <a:extLst xmlns:a="http://schemas.openxmlformats.org/drawingml/2006/main">
              <a:ext uri="{FF2B5EF4-FFF2-40B4-BE49-F238E27FC236}">
                <a16:creationId xmlns:a16="http://schemas.microsoft.com/office/drawing/2014/main" id="{A89EDCA3-3131-4F69-9217-FE5D93A6BCDD}"/>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notebook tuần 4 và báo cáo tuần 4.</a:t>
            </a:r>
          </a:p>
        </p:txBody>
      </p:sp>
      <p:sp>
        <p:nvSpPr>
          <p:cNvPr id="3" name="">
            <a:extLst xmlns:a="http://schemas.openxmlformats.org/drawingml/2006/main">
              <a:ext uri="{FF2B5EF4-FFF2-40B4-BE49-F238E27FC236}">
                <a16:creationId xmlns:a16="http://schemas.microsoft.com/office/drawing/2014/main" id="{E83F01FC-C17F-4EBB-B13B-34FD001CDBAA}"/>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10</a:t>
            </a:r>
          </a:p>
        </p:txBody>
      </p:sp>
      <p:sp>
        <p:nvSpPr>
          <p:cNvPr id="4" name="">
            <a:extLst xmlns:a="http://schemas.openxmlformats.org/drawingml/2006/main">
              <a:ext uri="{FF2B5EF4-FFF2-40B4-BE49-F238E27FC236}">
                <a16:creationId xmlns:a16="http://schemas.microsoft.com/office/drawing/2014/main" id="{BF3C90F1-018D-4A5A-8813-B345E77D8D56}"/>
              </a:ext>
            </a:extLst>
          </p:cNvPr>
          <p:cNvSpPr>
            <a:spLocks xmlns:a="http://schemas.openxmlformats.org/drawingml/2006/main" noGrp="1"/>
          </p:cNvSpPr>
          <p:nvPr/>
        </p:nvSpPr>
        <p:spPr>
          <a:xfrm xmlns:a="http://schemas.openxmlformats.org/drawingml/2006/main">
            <a:off x="609600" y="16859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8F8C"/>
                </a:solidFill>
                <a:latin typeface="DejaVu Sans"/>
                <a:ea typeface="DejaVu Sans"/>
                <a:cs typeface="DejaVu Sans"/>
              </a:defRPr>
            </a:defPPr>
          </a:lstStyle>
          <a:p xmlns:a="http://schemas.openxmlformats.org/drawingml/2006/main">
            <a:pPr>
              <a:defRPr sz="2550" b="1">
                <a:solidFill>
                  <a:srgbClr val="008F8C"/>
                </a:solidFill>
                <a:latin typeface="DejaVu Sans"/>
                <a:ea typeface="DejaVu Sans"/>
                <a:cs typeface="DejaVu Sans"/>
              </a:defRPr>
            </a:pPr>
            <a:r>
              <a:rPr sz="2550" b="1">
                <a:solidFill>
                  <a:srgbClr val="008F8C"/>
                </a:solidFill>
                <a:latin typeface="DejaVu Sans"/>
                <a:ea typeface="DejaVu Sans"/>
                <a:cs typeface="DejaVu Sans"/>
              </a:rPr>
              <a:t>Sai số đổi dấu theo hex và giờ</a:t>
            </a:r>
          </a:p>
        </p:txBody>
      </p:sp>
      <p:sp>
        <p:nvSpPr>
          <p:cNvPr id="5" name="">
            <a:extLst xmlns:a="http://schemas.openxmlformats.org/drawingml/2006/main">
              <a:ext uri="{FF2B5EF4-FFF2-40B4-BE49-F238E27FC236}">
                <a16:creationId xmlns:a16="http://schemas.microsoft.com/office/drawing/2014/main" id="{7E2D112D-1FBC-414A-94F4-2250F11C78C1}"/>
              </a:ext>
            </a:extLst>
          </p:cNvPr>
          <p:cNvSpPr>
            <a:spLocks xmlns:a="http://schemas.openxmlformats.org/drawingml/2006/main" noGrp="1"/>
          </p:cNvSpPr>
          <p:nvPr/>
        </p:nvSpPr>
        <p:spPr>
          <a:xfrm xmlns:a="http://schemas.openxmlformats.org/drawingml/2006/main">
            <a:off x="609600" y="2552700"/>
            <a:ext cx="1057275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43C"/>
                </a:solidFill>
                <a:latin typeface="DejaVu Sans"/>
                <a:ea typeface="DejaVu Sans"/>
                <a:cs typeface="DejaVu Sans"/>
              </a:defRPr>
            </a:defPPr>
          </a:lstStyle>
          <a:p xmlns:a="http://schemas.openxmlformats.org/drawingml/2006/main">
            <a:pPr>
              <a:defRPr sz="2250" b="0">
                <a:solidFill>
                  <a:srgbClr val="17343C"/>
                </a:solidFill>
                <a:latin typeface="DejaVu Sans"/>
                <a:ea typeface="DejaVu Sans"/>
                <a:cs typeface="DejaVu Sans"/>
              </a:defRPr>
            </a:pPr>
            <a:r>
              <a:rPr sz="2250" b="0">
                <a:solidFill>
                  <a:srgbClr val="17343C"/>
                </a:solidFill>
                <a:latin typeface="DejaVu Sans"/>
                <a:ea typeface="DejaVu Sans"/>
                <a:cs typeface="DejaVu Sans"/>
              </a:rPr>
              <a:t>Bias tổng nhỏ do lỗi dư và thiếu triệt tiêu một phần.</a:t>
            </a:r>
          </a:p>
          <a:p xmlns:a="http://schemas.openxmlformats.org/drawingml/2006/main">
            <a:r>
              <a:t/>
            </a:r>
          </a:p>
          <a:p xmlns:a="http://schemas.openxmlformats.org/drawingml/2006/main">
            <a:pPr>
              <a:defRPr sz="2250" b="0">
                <a:solidFill>
                  <a:srgbClr val="17343C"/>
                </a:solidFill>
                <a:latin typeface="DejaVu Sans"/>
                <a:ea typeface="DejaVu Sans"/>
                <a:cs typeface="DejaVu Sans"/>
              </a:defRPr>
            </a:pPr>
            <a:r>
              <a:rPr sz="2250" b="0">
                <a:solidFill>
                  <a:srgbClr val="17343C"/>
                </a:solidFill>
                <a:latin typeface="DejaVu Sans"/>
                <a:ea typeface="DejaVu Sans"/>
                <a:cs typeface="DejaVu Sans"/>
              </a:rPr>
              <a:t>Bù tăng đồng loạt chưa giải quyết được dòng nào cần tăng, dòng nào cần giảm.</a:t>
            </a:r>
          </a:p>
          <a:p xmlns:a="http://schemas.openxmlformats.org/drawingml/2006/main">
            <a:r>
              <a:t/>
            </a:r>
          </a:p>
          <a:p xmlns:a="http://schemas.openxmlformats.org/drawingml/2006/main">
            <a:pPr>
              <a:defRPr sz="2250" b="0">
                <a:solidFill>
                  <a:srgbClr val="17343C"/>
                </a:solidFill>
                <a:latin typeface="DejaVu Sans"/>
                <a:ea typeface="DejaVu Sans"/>
                <a:cs typeface="DejaVu Sans"/>
              </a:defRPr>
            </a:pPr>
            <a:r>
              <a:rPr sz="2250" b="0">
                <a:solidFill>
                  <a:srgbClr val="17343C"/>
                </a:solidFill>
                <a:latin typeface="DejaVu Sans"/>
                <a:ea typeface="DejaVu Sans"/>
                <a:cs typeface="DejaVu Sans"/>
              </a:rPr>
              <a:t>Chưa áp dụng bù tuyến tính hoặc residual. Đầu ra chỉ chặn âm và làm tròn.</a:t>
            </a:r>
          </a:p>
        </p:txBody>
      </p:sp>
      <p:sp>
        <p:nvSpPr>
          <p:cNvPr id="6" name="">
            <a:extLst xmlns:a="http://schemas.openxmlformats.org/drawingml/2006/main">
              <a:ext uri="{FF2B5EF4-FFF2-40B4-BE49-F238E27FC236}">
                <a16:creationId xmlns:a16="http://schemas.microsoft.com/office/drawing/2014/main" id="{A25A2163-83C3-4293-87A1-113052DE04FE}"/>
              </a:ext>
            </a:extLst>
          </p:cNvPr>
          <p:cNvSpPr>
            <a:spLocks xmlns:a="http://schemas.openxmlformats.org/drawingml/2006/main" noGrp="1"/>
          </p:cNvSpPr>
          <p:nvPr/>
        </p:nvSpPr>
        <p:spPr>
          <a:xfrm xmlns:a="http://schemas.openxmlformats.org/drawingml/2006/main">
            <a:off x="609600" y="55245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343C"/>
                </a:solidFill>
                <a:latin typeface="DejaVu Sans"/>
                <a:ea typeface="DejaVu Sans"/>
                <a:cs typeface="DejaVu Sans"/>
              </a:defRPr>
            </a:defPPr>
          </a:lstStyle>
          <a:p xmlns:a="http://schemas.openxmlformats.org/drawingml/2006/main">
            <a:pPr>
              <a:defRPr sz="2025" b="1">
                <a:solidFill>
                  <a:srgbClr val="17343C"/>
                </a:solidFill>
                <a:latin typeface="DejaVu Sans"/>
                <a:ea typeface="DejaVu Sans"/>
                <a:cs typeface="DejaVu Sans"/>
              </a:defRPr>
            </a:pPr>
            <a:r>
              <a:rPr sz="2025" b="1">
                <a:solidFill>
                  <a:srgbClr val="17343C"/>
                </a:solidFill>
                <a:latin typeface="DejaVu Sans"/>
                <a:ea typeface="DejaVu Sans"/>
                <a:cs typeface="DejaVu Sans"/>
              </a:rPr>
              <a:t>Chỉ thử lại khi nhóm đủ dữ liệu có sai lệch cùng chiều lặp lại.</a:t>
            </a:r>
          </a:p>
        </p:txBody>
      </p:sp>
    </p:spTree>
    <p:extLst>
      <p:ext uri="{BB962C8B-B14F-4D97-AF65-F5344CB8AC3E}">
        <p14:creationId xmlns:p14="http://schemas.microsoft.com/office/powerpoint/2010/main" val="20908606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7986B9-6E46-427F-976A-23FDCB8AA477}"/>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Pipeline huấn luyện và serving</a:t>
            </a:r>
          </a:p>
        </p:txBody>
      </p:sp>
      <p:sp>
        <p:nvSpPr>
          <p:cNvPr id="2" name="">
            <a:extLst xmlns:a="http://schemas.openxmlformats.org/drawingml/2006/main">
              <a:ext uri="{FF2B5EF4-FFF2-40B4-BE49-F238E27FC236}">
                <a16:creationId xmlns:a16="http://schemas.microsoft.com/office/drawing/2014/main" id="{D95757DE-A663-45B6-AA41-949D08764135}"/>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demand_forecasting(2).zip, DAG inference và retrain, NOTEBOOK_MIGRATION.md.</a:t>
            </a:r>
          </a:p>
        </p:txBody>
      </p:sp>
      <p:sp>
        <p:nvSpPr>
          <p:cNvPr id="3" name="">
            <a:extLst xmlns:a="http://schemas.openxmlformats.org/drawingml/2006/main">
              <a:ext uri="{FF2B5EF4-FFF2-40B4-BE49-F238E27FC236}">
                <a16:creationId xmlns:a16="http://schemas.microsoft.com/office/drawing/2014/main" id="{C7D1302E-9525-4C4D-8BBA-631692F30BBF}"/>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11</a:t>
            </a:r>
          </a:p>
        </p:txBody>
      </p:sp>
      <p:graphicFrame>
        <p:nvGraphicFramePr>
          <p:cNvPr id="4" name="">
            <a:extLst xmlns:a="http://schemas.openxmlformats.org/drawingml/2006/main">
              <a:ext uri="{FF2B5EF4-FFF2-40B4-BE49-F238E27FC236}">
                <a16:creationId xmlns:a16="http://schemas.microsoft.com/office/drawing/2014/main" id="{72880267-1AA1-44DC-9015-6F0315F2A9F4}"/>
              </a:ext>
            </a:extLst>
          </p:cNvPr>
          <p:cNvGraphicFramePr/>
          <p:nvPr/>
        </p:nvGraphicFramePr>
        <p:xfrm>
          <a:off xmlns:a="http://schemas.openxmlformats.org/drawingml/2006/main" x="609600" y="1571625"/>
          <a:ext xmlns:a="http://schemas.openxmlformats.org/drawingml/2006/main" cx="10972800" cy="2952750"/>
        </p:xfrm>
        <a:graphic xmlns:a="http://schemas.openxmlformats.org/drawingml/2006/main">
          <a:graphicData uri="http://schemas.openxmlformats.org/drawingml/2006/table">
            <a:tbl>
              <a:tblPr/>
              <a:tblGrid>
                <a:gridCol w="2286000"/>
                <a:gridCol w="2333625"/>
                <a:gridCol w="6353175"/>
              </a:tblGrid>
              <a:tr h="738188">
                <a:tc>
                  <a:txBody>
                    <a:bodyPr/>
                    <a:lstStyle/>
                    <a:p>
                      <a:r>
                        <a:rPr sz="1875" b="1">
                          <a:solidFill>
                            <a:srgbClr val="FFFFFF"/>
                          </a:solidFill>
                          <a:latin typeface="DejaVu Sans"/>
                          <a:ea typeface="DejaVu Sans"/>
                          <a:cs typeface="DejaVu Sans"/>
                        </a:rPr>
                        <a:t>Luồng</a:t>
                      </a:r>
                    </a:p>
                  </a:txBody>
                  <a:tcPr marL="91440" marR="91440" marT="45720" marB="45720">
                    <a:solidFill>
                      <a:srgbClr val="17343C"/>
                    </a:solidFill>
                  </a:tcPr>
                </a:tc>
                <a:tc>
                  <a:txBody>
                    <a:bodyPr/>
                    <a:lstStyle/>
                    <a:p>
                      <a:r>
                        <a:rPr sz="1875" b="1">
                          <a:solidFill>
                            <a:srgbClr val="FFFFFF"/>
                          </a:solidFill>
                          <a:latin typeface="DejaVu Sans"/>
                          <a:ea typeface="DejaVu Sans"/>
                          <a:cs typeface="DejaVu Sans"/>
                        </a:rPr>
                        <a:t>Nhịp chạy</a:t>
                      </a:r>
                    </a:p>
                  </a:txBody>
                  <a:tcPr marL="91440" marR="91440" marT="45720" marB="45720">
                    <a:solidFill>
                      <a:srgbClr val="17343C"/>
                    </a:solidFill>
                  </a:tcPr>
                </a:tc>
                <a:tc>
                  <a:txBody>
                    <a:bodyPr/>
                    <a:lstStyle/>
                    <a:p>
                      <a:r>
                        <a:rPr sz="1875" b="1">
                          <a:solidFill>
                            <a:srgbClr val="FFFFFF"/>
                          </a:solidFill>
                          <a:latin typeface="DejaVu Sans"/>
                          <a:ea typeface="DejaVu Sans"/>
                          <a:cs typeface="DejaVu Sans"/>
                        </a:rPr>
                        <a:t>Nội dung</a:t>
                      </a:r>
                    </a:p>
                  </a:txBody>
                  <a:tcPr marL="91440" marR="91440" marT="45720" marB="45720">
                    <a:solidFill>
                      <a:srgbClr val="17343C"/>
                    </a:solidFill>
                  </a:tcPr>
                </a:tc>
              </a:tr>
              <a:tr h="738188">
                <a:tc>
                  <a:txBody>
                    <a:bodyPr/>
                    <a:lstStyle/>
                    <a:p>
                      <a:r>
                        <a:rPr sz="1875" b="0">
                          <a:solidFill>
                            <a:srgbClr val="17343C"/>
                          </a:solidFill>
                          <a:latin typeface="DejaVu Sans"/>
                          <a:ea typeface="DejaVu Sans"/>
                          <a:cs typeface="DejaVu Sans"/>
                        </a:rPr>
                        <a:t>Serving</a:t>
                      </a:r>
                    </a:p>
                  </a:txBody>
                  <a:tcPr marL="91440" marR="91440" marT="45720" marB="45720">
                    <a:solidFill>
                      <a:srgbClr val="FFFFFF"/>
                    </a:solidFill>
                  </a:tcPr>
                </a:tc>
                <a:tc>
                  <a:txBody>
                    <a:bodyPr/>
                    <a:lstStyle/>
                    <a:p>
                      <a:r>
                        <a:rPr sz="1875" b="0">
                          <a:solidFill>
                            <a:srgbClr val="17343C"/>
                          </a:solidFill>
                          <a:latin typeface="DejaVu Sans"/>
                          <a:ea typeface="DejaVu Sans"/>
                          <a:cs typeface="DejaVu Sans"/>
                        </a:rPr>
                        <a:t>Mỗi 10 phút</a:t>
                      </a:r>
                    </a:p>
                  </a:txBody>
                  <a:tcPr marL="91440" marR="91440" marT="45720" marB="45720">
                    <a:solidFill>
                      <a:srgbClr val="FFFFFF"/>
                    </a:solidFill>
                  </a:tcPr>
                </a:tc>
                <a:tc>
                  <a:txBody>
                    <a:bodyPr/>
                    <a:lstStyle/>
                    <a:p>
                      <a:r>
                        <a:rPr sz="1875" b="0">
                          <a:solidFill>
                            <a:srgbClr val="17343C"/>
                          </a:solidFill>
                          <a:latin typeface="DejaVu Sans"/>
                          <a:ea typeface="DejaVu Sans"/>
                          <a:cs typeface="DejaVu Sans"/>
                        </a:rPr>
                        <a:t>Bucket đã đóng, feature tại T, 6 model active, lưu prediction</a:t>
                      </a:r>
                    </a:p>
                  </a:txBody>
                  <a:tcPr marL="91440" marR="91440" marT="45720" marB="45720">
                    <a:solidFill>
                      <a:srgbClr val="FFFFFF"/>
                    </a:solidFill>
                  </a:tcPr>
                </a:tc>
              </a:tr>
              <a:tr h="738188">
                <a:tc>
                  <a:txBody>
                    <a:bodyPr/>
                    <a:lstStyle/>
                    <a:p>
                      <a:r>
                        <a:rPr sz="1875" b="0">
                          <a:solidFill>
                            <a:srgbClr val="17343C"/>
                          </a:solidFill>
                          <a:latin typeface="DejaVu Sans"/>
                          <a:ea typeface="DejaVu Sans"/>
                          <a:cs typeface="DejaVu Sans"/>
                        </a:rPr>
                        <a:t>Huấn luyện</a:t>
                      </a:r>
                    </a:p>
                  </a:txBody>
                  <a:tcPr marL="91440" marR="91440" marT="45720" marB="45720">
                    <a:solidFill>
                      <a:srgbClr val="EDF5F4"/>
                    </a:solidFill>
                  </a:tcPr>
                </a:tc>
                <a:tc>
                  <a:txBody>
                    <a:bodyPr/>
                    <a:lstStyle/>
                    <a:p>
                      <a:r>
                        <a:rPr sz="1875" b="0">
                          <a:solidFill>
                            <a:srgbClr val="17343C"/>
                          </a:solidFill>
                          <a:latin typeface="DejaVu Sans"/>
                          <a:ea typeface="DejaVu Sans"/>
                          <a:cs typeface="DejaVu Sans"/>
                        </a:rPr>
                        <a:t>Hằng tuần</a:t>
                      </a:r>
                    </a:p>
                  </a:txBody>
                  <a:tcPr marL="91440" marR="91440" marT="45720" marB="45720">
                    <a:solidFill>
                      <a:srgbClr val="EDF5F4"/>
                    </a:solidFill>
                  </a:tcPr>
                </a:tc>
                <a:tc>
                  <a:txBody>
                    <a:bodyPr/>
                    <a:lstStyle/>
                    <a:p>
                      <a:r>
                        <a:rPr sz="1875" b="0">
                          <a:solidFill>
                            <a:srgbClr val="17343C"/>
                          </a:solidFill>
                          <a:latin typeface="DejaVu Sans"/>
                          <a:ea typeface="DejaVu Sans"/>
                          <a:cs typeface="DejaVu Sans"/>
                        </a:rPr>
                        <a:t>Chia tập, purge, fit/refit, kiểm tra bộ model</a:t>
                      </a:r>
                    </a:p>
                  </a:txBody>
                  <a:tcPr marL="91440" marR="91440" marT="45720" marB="45720">
                    <a:solidFill>
                      <a:srgbClr val="EDF5F4"/>
                    </a:solidFill>
                  </a:tcPr>
                </a:tc>
              </a:tr>
              <a:tr h="738188">
                <a:tc>
                  <a:txBody>
                    <a:bodyPr/>
                    <a:lstStyle/>
                    <a:p>
                      <a:r>
                        <a:rPr sz="1875" b="0">
                          <a:solidFill>
                            <a:srgbClr val="17343C"/>
                          </a:solidFill>
                          <a:latin typeface="DejaVu Sans"/>
                          <a:ea typeface="DejaVu Sans"/>
                          <a:cs typeface="DejaVu Sans"/>
                        </a:rPr>
                        <a:t>Monitoring</a:t>
                      </a:r>
                    </a:p>
                  </a:txBody>
                  <a:tcPr marL="91440" marR="91440" marT="45720" marB="45720">
                    <a:solidFill>
                      <a:srgbClr val="FFFFFF"/>
                    </a:solidFill>
                  </a:tcPr>
                </a:tc>
                <a:tc>
                  <a:txBody>
                    <a:bodyPr/>
                    <a:lstStyle/>
                    <a:p>
                      <a:r>
                        <a:rPr sz="1875" b="0">
                          <a:solidFill>
                            <a:srgbClr val="17343C"/>
                          </a:solidFill>
                          <a:latin typeface="DejaVu Sans"/>
                          <a:ea typeface="DejaVu Sans"/>
                          <a:cs typeface="DejaVu Sans"/>
                        </a:rPr>
                        <a:t>Hiệu năng mỗi giờ</a:t>
                      </a:r>
                    </a:p>
                  </a:txBody>
                  <a:tcPr marL="91440" marR="91440" marT="45720" marB="45720">
                    <a:solidFill>
                      <a:srgbClr val="FFFFFF"/>
                    </a:solidFill>
                  </a:tcPr>
                </a:tc>
                <a:tc>
                  <a:txBody>
                    <a:bodyPr/>
                    <a:lstStyle/>
                    <a:p>
                      <a:r>
                        <a:rPr sz="1875" b="0">
                          <a:solidFill>
                            <a:srgbClr val="17343C"/>
                          </a:solidFill>
                          <a:latin typeface="DejaVu Sans"/>
                          <a:ea typeface="DejaVu Sans"/>
                          <a:cs typeface="DejaVu Sans"/>
                        </a:rPr>
                        <a:t>Ghép actual đủ tuổi, chấm và lưu kết quả</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218893F-0F5C-44E1-BCAC-3BE1F105BDD9}"/>
              </a:ext>
            </a:extLst>
          </p:cNvPr>
          <p:cNvSpPr>
            <a:spLocks xmlns:a="http://schemas.openxmlformats.org/drawingml/2006/main" noGrp="1"/>
          </p:cNvSpPr>
          <p:nvPr/>
        </p:nvSpPr>
        <p:spPr>
          <a:xfrm xmlns:a="http://schemas.openxmlformats.org/drawingml/2006/main">
            <a:off x="609600" y="4981575"/>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3C"/>
                </a:solidFill>
                <a:latin typeface="DejaVu Sans"/>
                <a:ea typeface="DejaVu Sans"/>
                <a:cs typeface="DejaVu Sans"/>
              </a:defRPr>
            </a:defPPr>
          </a:lstStyle>
          <a:p xmlns:a="http://schemas.openxmlformats.org/drawingml/2006/main">
            <a:pPr>
              <a:defRPr sz="2100" b="0">
                <a:solidFill>
                  <a:srgbClr val="17343C"/>
                </a:solidFill>
                <a:latin typeface="DejaVu Sans"/>
                <a:ea typeface="DejaVu Sans"/>
                <a:cs typeface="DejaVu Sans"/>
              </a:defRPr>
            </a:pPr>
            <a:r>
              <a:rPr sz="2100" b="0">
                <a:solidFill>
                  <a:srgbClr val="17343C"/>
                </a:solidFill>
                <a:latin typeface="DejaVu Sans"/>
                <a:ea typeface="DejaVu Sans"/>
                <a:cs typeface="DejaVu Sans"/>
              </a:rPr>
              <a:t>Docker và PostgreSQL hỗ trợ vận hành; Airflow điều phối lịch chạy.</a:t>
            </a:r>
          </a:p>
          <a:p xmlns:a="http://schemas.openxmlformats.org/drawingml/2006/main">
            <a:pPr>
              <a:defRPr sz="2100" b="0">
                <a:solidFill>
                  <a:srgbClr val="17343C"/>
                </a:solidFill>
                <a:latin typeface="DejaVu Sans"/>
                <a:ea typeface="DejaVu Sans"/>
                <a:cs typeface="DejaVu Sans"/>
              </a:defRPr>
            </a:pPr>
            <a:r>
              <a:rPr sz="2100" b="0">
                <a:solidFill>
                  <a:srgbClr val="17343C"/>
                </a:solidFill>
                <a:latin typeface="DejaVu Sans"/>
                <a:ea typeface="DejaVu Sans"/>
                <a:cs typeface="DejaVu Sans"/>
              </a:rPr>
              <a:t>Artifact lưu cấu hình, schema và mã hóa hex để train/serving khớp nhau.</a:t>
            </a:r>
          </a:p>
        </p:txBody>
      </p:sp>
    </p:spTree>
    <p:extLst>
      <p:ext uri="{BB962C8B-B14F-4D97-AF65-F5344CB8AC3E}">
        <p14:creationId xmlns:p14="http://schemas.microsoft.com/office/powerpoint/2010/main" val="3012921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559DE0-23EC-427B-8525-3592C3572DAA}"/>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Monitoring trả lời từng vấn đề riêng</a:t>
            </a:r>
          </a:p>
        </p:txBody>
      </p:sp>
      <p:sp>
        <p:nvSpPr>
          <p:cNvPr id="2" name="">
            <a:extLst xmlns:a="http://schemas.openxmlformats.org/drawingml/2006/main">
              <a:ext uri="{FF2B5EF4-FFF2-40B4-BE49-F238E27FC236}">
                <a16:creationId xmlns:a16="http://schemas.microsoft.com/office/drawing/2014/main" id="{AADAFEE9-28E5-443C-BF0B-0AE17D85F3F8}"/>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MONITORING.md trong source hiện có.</a:t>
            </a:r>
          </a:p>
        </p:txBody>
      </p:sp>
      <p:sp>
        <p:nvSpPr>
          <p:cNvPr id="3" name="">
            <a:extLst xmlns:a="http://schemas.openxmlformats.org/drawingml/2006/main">
              <a:ext uri="{FF2B5EF4-FFF2-40B4-BE49-F238E27FC236}">
                <a16:creationId xmlns:a16="http://schemas.microsoft.com/office/drawing/2014/main" id="{31378450-76F2-40CE-92B0-49D9DBBEC20A}"/>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12</a:t>
            </a:r>
          </a:p>
        </p:txBody>
      </p:sp>
      <p:graphicFrame>
        <p:nvGraphicFramePr>
          <p:cNvPr id="4" name="">
            <a:extLst xmlns:a="http://schemas.openxmlformats.org/drawingml/2006/main">
              <a:ext uri="{FF2B5EF4-FFF2-40B4-BE49-F238E27FC236}">
                <a16:creationId xmlns:a16="http://schemas.microsoft.com/office/drawing/2014/main" id="{CAF71301-607F-432B-A2B1-8BD0E9DE8F51}"/>
              </a:ext>
            </a:extLst>
          </p:cNvPr>
          <p:cNvGraphicFramePr/>
          <p:nvPr/>
        </p:nvGraphicFramePr>
        <p:xfrm>
          <a:off xmlns:a="http://schemas.openxmlformats.org/drawingml/2006/main" x="609600" y="1571625"/>
          <a:ext xmlns:a="http://schemas.openxmlformats.org/drawingml/2006/main" cx="10972800" cy="2619375"/>
        </p:xfrm>
        <a:graphic xmlns:a="http://schemas.openxmlformats.org/drawingml/2006/main">
          <a:graphicData uri="http://schemas.openxmlformats.org/drawingml/2006/table">
            <a:tbl>
              <a:tblPr/>
              <a:tblGrid>
                <a:gridCol w="2571750"/>
                <a:gridCol w="4238625"/>
                <a:gridCol w="4162425"/>
              </a:tblGrid>
              <a:tr h="654844">
                <a:tc>
                  <a:txBody>
                    <a:bodyPr/>
                    <a:lstStyle/>
                    <a:p>
                      <a:r>
                        <a:rPr sz="1875" b="1">
                          <a:solidFill>
                            <a:srgbClr val="FFFFFF"/>
                          </a:solidFill>
                          <a:latin typeface="DejaVu Sans"/>
                          <a:ea typeface="DejaVu Sans"/>
                          <a:cs typeface="DejaVu Sans"/>
                        </a:rPr>
                        <a:t>Nhóm</a:t>
                      </a:r>
                    </a:p>
                  </a:txBody>
                  <a:tcPr marL="91440" marR="91440" marT="45720" marB="45720">
                    <a:solidFill>
                      <a:srgbClr val="17343C"/>
                    </a:solidFill>
                  </a:tcPr>
                </a:tc>
                <a:tc>
                  <a:txBody>
                    <a:bodyPr/>
                    <a:lstStyle/>
                    <a:p>
                      <a:r>
                        <a:rPr sz="1875" b="1">
                          <a:solidFill>
                            <a:srgbClr val="FFFFFF"/>
                          </a:solidFill>
                          <a:latin typeface="DejaVu Sans"/>
                          <a:ea typeface="DejaVu Sans"/>
                          <a:cs typeface="DejaVu Sans"/>
                        </a:rPr>
                        <a:t>Nội dung theo dõi</a:t>
                      </a:r>
                    </a:p>
                  </a:txBody>
                  <a:tcPr marL="91440" marR="91440" marT="45720" marB="45720">
                    <a:solidFill>
                      <a:srgbClr val="17343C"/>
                    </a:solidFill>
                  </a:tcPr>
                </a:tc>
                <a:tc>
                  <a:txBody>
                    <a:bodyPr/>
                    <a:lstStyle/>
                    <a:p>
                      <a:r>
                        <a:rPr sz="1875" b="1">
                          <a:solidFill>
                            <a:srgbClr val="FFFFFF"/>
                          </a:solidFill>
                          <a:latin typeface="DejaVu Sans"/>
                          <a:ea typeface="DejaVu Sans"/>
                          <a:cs typeface="DejaVu Sans"/>
                        </a:rPr>
                        <a:t>Cách đọc</a:t>
                      </a:r>
                    </a:p>
                  </a:txBody>
                  <a:tcPr marL="91440" marR="91440" marT="45720" marB="45720">
                    <a:solidFill>
                      <a:srgbClr val="17343C"/>
                    </a:solidFill>
                  </a:tcPr>
                </a:tc>
              </a:tr>
              <a:tr h="654844">
                <a:tc>
                  <a:txBody>
                    <a:bodyPr/>
                    <a:lstStyle/>
                    <a:p>
                      <a:r>
                        <a:rPr sz="1875" b="0">
                          <a:solidFill>
                            <a:srgbClr val="17343C"/>
                          </a:solidFill>
                          <a:latin typeface="DejaVu Sans"/>
                          <a:ea typeface="DejaVu Sans"/>
                          <a:cs typeface="DejaVu Sans"/>
                        </a:rPr>
                        <a:t>Feature</a:t>
                      </a:r>
                    </a:p>
                  </a:txBody>
                  <a:tcPr marL="91440" marR="91440" marT="45720" marB="45720">
                    <a:solidFill>
                      <a:srgbClr val="FFFFFF"/>
                    </a:solidFill>
                  </a:tcPr>
                </a:tc>
                <a:tc>
                  <a:txBody>
                    <a:bodyPr/>
                    <a:lstStyle/>
                    <a:p>
                      <a:r>
                        <a:rPr sz="1875" b="0">
                          <a:solidFill>
                            <a:srgbClr val="17343C"/>
                          </a:solidFill>
                          <a:latin typeface="DejaVu Sans"/>
                          <a:ea typeface="DejaVu Sans"/>
                          <a:cs typeface="DejaVu Sans"/>
                        </a:rPr>
                        <a:t>Missing và tuổi dữ liệu</a:t>
                      </a:r>
                    </a:p>
                  </a:txBody>
                  <a:tcPr marL="91440" marR="91440" marT="45720" marB="45720">
                    <a:solidFill>
                      <a:srgbClr val="FFFFFF"/>
                    </a:solidFill>
                  </a:tcPr>
                </a:tc>
                <a:tc>
                  <a:txBody>
                    <a:bodyPr/>
                    <a:lstStyle/>
                    <a:p>
                      <a:r>
                        <a:rPr sz="1875" b="0">
                          <a:solidFill>
                            <a:srgbClr val="17343C"/>
                          </a:solidFill>
                          <a:latin typeface="DejaVu Sans"/>
                          <a:ea typeface="DejaVu Sans"/>
                          <a:cs typeface="DejaVu Sans"/>
                        </a:rPr>
                        <a:t>Đầu vào có đủ và mới?</a:t>
                      </a:r>
                    </a:p>
                  </a:txBody>
                  <a:tcPr marL="91440" marR="91440" marT="45720" marB="45720">
                    <a:solidFill>
                      <a:srgbClr val="FFFFFF"/>
                    </a:solidFill>
                  </a:tcPr>
                </a:tc>
              </a:tr>
              <a:tr h="654844">
                <a:tc>
                  <a:txBody>
                    <a:bodyPr/>
                    <a:lstStyle/>
                    <a:p>
                      <a:r>
                        <a:rPr sz="1875" b="0">
                          <a:solidFill>
                            <a:srgbClr val="17343C"/>
                          </a:solidFill>
                          <a:latin typeface="DejaVu Sans"/>
                          <a:ea typeface="DejaVu Sans"/>
                          <a:cs typeface="DejaVu Sans"/>
                        </a:rPr>
                        <a:t>Performance</a:t>
                      </a:r>
                    </a:p>
                  </a:txBody>
                  <a:tcPr marL="91440" marR="91440" marT="45720" marB="45720">
                    <a:solidFill>
                      <a:srgbClr val="EDF5F4"/>
                    </a:solidFill>
                  </a:tcPr>
                </a:tc>
                <a:tc>
                  <a:txBody>
                    <a:bodyPr/>
                    <a:lstStyle/>
                    <a:p>
                      <a:r>
                        <a:rPr sz="1875" b="0">
                          <a:solidFill>
                            <a:srgbClr val="17343C"/>
                          </a:solidFill>
                          <a:latin typeface="DejaVu Sans"/>
                          <a:ea typeface="DejaVu Sans"/>
                          <a:cs typeface="DejaVu Sans"/>
                        </a:rPr>
                        <a:t>WMAPE, bias và coverage</a:t>
                      </a:r>
                    </a:p>
                  </a:txBody>
                  <a:tcPr marL="91440" marR="91440" marT="45720" marB="45720">
                    <a:solidFill>
                      <a:srgbClr val="EDF5F4"/>
                    </a:solidFill>
                  </a:tcPr>
                </a:tc>
                <a:tc>
                  <a:txBody>
                    <a:bodyPr/>
                    <a:lstStyle/>
                    <a:p>
                      <a:r>
                        <a:rPr sz="1875" b="0">
                          <a:solidFill>
                            <a:srgbClr val="17343C"/>
                          </a:solidFill>
                          <a:latin typeface="DejaVu Sans"/>
                          <a:ea typeface="DejaVu Sans"/>
                          <a:cs typeface="DejaVu Sans"/>
                        </a:rPr>
                        <a:t>Sai số trên phần đã chấm</a:t>
                      </a:r>
                    </a:p>
                  </a:txBody>
                  <a:tcPr marL="91440" marR="91440" marT="45720" marB="45720">
                    <a:solidFill>
                      <a:srgbClr val="EDF5F4"/>
                    </a:solidFill>
                  </a:tcPr>
                </a:tc>
              </a:tr>
              <a:tr h="654844">
                <a:tc>
                  <a:txBody>
                    <a:bodyPr/>
                    <a:lstStyle/>
                    <a:p>
                      <a:r>
                        <a:rPr sz="1875" b="0">
                          <a:solidFill>
                            <a:srgbClr val="17343C"/>
                          </a:solidFill>
                          <a:latin typeface="DejaVu Sans"/>
                          <a:ea typeface="DejaVu Sans"/>
                          <a:cs typeface="DejaVu Sans"/>
                        </a:rPr>
                        <a:t>Distribution</a:t>
                      </a:r>
                    </a:p>
                  </a:txBody>
                  <a:tcPr marL="91440" marR="91440" marT="45720" marB="45720">
                    <a:solidFill>
                      <a:srgbClr val="FFFFFF"/>
                    </a:solidFill>
                  </a:tcPr>
                </a:tc>
                <a:tc>
                  <a:txBody>
                    <a:bodyPr/>
                    <a:lstStyle/>
                    <a:p>
                      <a:r>
                        <a:rPr sz="1875" b="0">
                          <a:solidFill>
                            <a:srgbClr val="17343C"/>
                          </a:solidFill>
                          <a:latin typeface="DejaVu Sans"/>
                          <a:ea typeface="DejaVu Sans"/>
                          <a:cs typeface="DejaVu Sans"/>
                        </a:rPr>
                        <a:t>PSI và ngoài range</a:t>
                      </a:r>
                    </a:p>
                  </a:txBody>
                  <a:tcPr marL="91440" marR="91440" marT="45720" marB="45720">
                    <a:solidFill>
                      <a:srgbClr val="FFFFFF"/>
                    </a:solidFill>
                  </a:tcPr>
                </a:tc>
                <a:tc>
                  <a:txBody>
                    <a:bodyPr/>
                    <a:lstStyle/>
                    <a:p>
                      <a:r>
                        <a:rPr sz="1875" b="0">
                          <a:solidFill>
                            <a:srgbClr val="17343C"/>
                          </a:solidFill>
                          <a:latin typeface="DejaVu Sans"/>
                          <a:ea typeface="DejaVu Sans"/>
                          <a:cs typeface="DejaVu Sans"/>
                        </a:rPr>
                        <a:t>Phân phối đầu ra thay đổi</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962F4F2-FDDF-4FAD-A036-103AC8CFD279}"/>
              </a:ext>
            </a:extLst>
          </p:cNvPr>
          <p:cNvSpPr>
            <a:spLocks xmlns:a="http://schemas.openxmlformats.org/drawingml/2006/main" noGrp="1"/>
          </p:cNvSpPr>
          <p:nvPr/>
        </p:nvSpPr>
        <p:spPr>
          <a:xfrm xmlns:a="http://schemas.openxmlformats.org/drawingml/2006/main">
            <a:off x="609600" y="4667250"/>
            <a:ext cx="10763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43C"/>
                </a:solidFill>
                <a:latin typeface="DejaVu Sans"/>
                <a:ea typeface="DejaVu Sans"/>
                <a:cs typeface="DejaVu Sans"/>
              </a:defRPr>
            </a:defPPr>
          </a:lstStyle>
          <a:p xmlns:a="http://schemas.openxmlformats.org/drawingml/2006/main">
            <a:pPr>
              <a:defRPr sz="2175" b="0">
                <a:solidFill>
                  <a:srgbClr val="17343C"/>
                </a:solidFill>
                <a:latin typeface="DejaVu Sans"/>
                <a:ea typeface="DejaVu Sans"/>
                <a:cs typeface="DejaVu Sans"/>
              </a:defRPr>
            </a:pPr>
            <a:r>
              <a:rPr sz="2175" b="0">
                <a:solidFill>
                  <a:srgbClr val="17343C"/>
                </a:solidFill>
                <a:latin typeface="DejaVu Sans"/>
                <a:ea typeface="DejaVu Sans"/>
                <a:cs typeface="DejaVu Sans"/>
              </a:rPr>
              <a:t>8001: dashboard chẩn đoán theo cửa sổ</a:t>
            </a:r>
          </a:p>
          <a:p xmlns:a="http://schemas.openxmlformats.org/drawingml/2006/main">
            <a:pPr>
              <a:defRPr sz="2175" b="0">
                <a:solidFill>
                  <a:srgbClr val="17343C"/>
                </a:solidFill>
                <a:latin typeface="DejaVu Sans"/>
                <a:ea typeface="DejaVu Sans"/>
                <a:cs typeface="DejaVu Sans"/>
              </a:defRPr>
            </a:pPr>
            <a:r>
              <a:rPr sz="2175" b="0">
                <a:solidFill>
                  <a:srgbClr val="17343C"/>
                </a:solidFill>
                <a:latin typeface="DejaVu Sans"/>
                <a:ea typeface="DejaVu Sans"/>
                <a:cs typeface="DejaVu Sans"/>
              </a:rPr>
              <a:t>9090: thu thập metric và trạng thái cảnh báo</a:t>
            </a:r>
          </a:p>
          <a:p xmlns:a="http://schemas.openxmlformats.org/drawingml/2006/main">
            <a:pPr>
              <a:defRPr sz="2175" b="0">
                <a:solidFill>
                  <a:srgbClr val="17343C"/>
                </a:solidFill>
                <a:latin typeface="DejaVu Sans"/>
                <a:ea typeface="DejaVu Sans"/>
                <a:cs typeface="DejaVu Sans"/>
              </a:defRPr>
            </a:pPr>
            <a:r>
              <a:rPr sz="2175" b="0">
                <a:solidFill>
                  <a:srgbClr val="17343C"/>
                </a:solidFill>
                <a:latin typeface="DejaVu Sans"/>
                <a:ea typeface="DejaVu Sans"/>
                <a:cs typeface="DejaVu Sans"/>
              </a:rPr>
              <a:t>3000: Grafana theo dõi lịch sử metric</a:t>
            </a:r>
          </a:p>
        </p:txBody>
      </p:sp>
    </p:spTree>
    <p:extLst>
      <p:ext uri="{BB962C8B-B14F-4D97-AF65-F5344CB8AC3E}">
        <p14:creationId xmlns:p14="http://schemas.microsoft.com/office/powerpoint/2010/main" val="5281126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AAFC28-8D34-40BE-8198-2A76AA2A38C1}"/>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Chấm performance khi actual đã đủ</a:t>
            </a:r>
          </a:p>
        </p:txBody>
      </p:sp>
      <p:sp>
        <p:nvSpPr>
          <p:cNvPr id="2" name="">
            <a:extLst xmlns:a="http://schemas.openxmlformats.org/drawingml/2006/main">
              <a:ext uri="{FF2B5EF4-FFF2-40B4-BE49-F238E27FC236}">
                <a16:creationId xmlns:a16="http://schemas.microsoft.com/office/drawing/2014/main" id="{D1267639-144D-4D36-9609-6ADA3C03BF40}"/>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MONITORING.md và monitoring_config.py.</a:t>
            </a:r>
          </a:p>
        </p:txBody>
      </p:sp>
      <p:sp>
        <p:nvSpPr>
          <p:cNvPr id="3" name="">
            <a:extLst xmlns:a="http://schemas.openxmlformats.org/drawingml/2006/main">
              <a:ext uri="{FF2B5EF4-FFF2-40B4-BE49-F238E27FC236}">
                <a16:creationId xmlns:a16="http://schemas.microsoft.com/office/drawing/2014/main" id="{D0FCE197-069C-4503-A315-AD3A78D85B4A}"/>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13</a:t>
            </a:r>
          </a:p>
        </p:txBody>
      </p:sp>
      <p:sp>
        <p:nvSpPr>
          <p:cNvPr id="4" name="">
            <a:extLst xmlns:a="http://schemas.openxmlformats.org/drawingml/2006/main">
              <a:ext uri="{FF2B5EF4-FFF2-40B4-BE49-F238E27FC236}">
                <a16:creationId xmlns:a16="http://schemas.microsoft.com/office/drawing/2014/main" id="{2ED18318-2DF1-4114-B143-5855F89F2884}"/>
              </a:ext>
            </a:extLst>
          </p:cNvPr>
          <p:cNvSpPr>
            <a:spLocks xmlns:a="http://schemas.openxmlformats.org/drawingml/2006/main" noGrp="1"/>
          </p:cNvSpPr>
          <p:nvPr/>
        </p:nvSpPr>
        <p:spPr>
          <a:xfrm xmlns:a="http://schemas.openxmlformats.org/drawingml/2006/main">
            <a:off x="609600" y="1695450"/>
            <a:ext cx="1095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08F8C"/>
                </a:solidFill>
                <a:latin typeface="DejaVu Sans"/>
                <a:ea typeface="DejaVu Sans"/>
                <a:cs typeface="DejaVu Sans"/>
              </a:defRPr>
            </a:defPPr>
          </a:lstStyle>
          <a:p xmlns:a="http://schemas.openxmlformats.org/drawingml/2006/main">
            <a:pPr>
              <a:defRPr sz="2700" b="1">
                <a:solidFill>
                  <a:srgbClr val="008F8C"/>
                </a:solidFill>
                <a:latin typeface="DejaVu Sans"/>
                <a:ea typeface="DejaVu Sans"/>
                <a:cs typeface="DejaVu Sans"/>
              </a:defRPr>
            </a:pPr>
            <a:r>
              <a:rPr sz="2700" b="1">
                <a:solidFill>
                  <a:srgbClr val="008F8C"/>
                </a:solidFill>
                <a:latin typeface="DejaVu Sans"/>
                <a:ea typeface="DejaVu Sans"/>
                <a:cs typeface="DejaVu Sans"/>
              </a:rPr>
              <a:t>05:00 chấm khung T từ 03:00 đến trước 04:00</a:t>
            </a:r>
          </a:p>
        </p:txBody>
      </p:sp>
      <p:sp>
        <p:nvSpPr>
          <p:cNvPr id="5" name="">
            <a:extLst xmlns:a="http://schemas.openxmlformats.org/drawingml/2006/main">
              <a:ext uri="{FF2B5EF4-FFF2-40B4-BE49-F238E27FC236}">
                <a16:creationId xmlns:a16="http://schemas.microsoft.com/office/drawing/2014/main" id="{D8960A95-6F7D-4830-B57C-82BF7B40D921}"/>
              </a:ext>
            </a:extLst>
          </p:cNvPr>
          <p:cNvSpPr>
            <a:spLocks xmlns:a="http://schemas.openxmlformats.org/drawingml/2006/main" noGrp="1"/>
          </p:cNvSpPr>
          <p:nvPr/>
        </p:nvSpPr>
        <p:spPr>
          <a:xfrm xmlns:a="http://schemas.openxmlformats.org/drawingml/2006/main">
            <a:off x="609600" y="2781300"/>
            <a:ext cx="10763250" cy="2990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3C"/>
                </a:solidFill>
                <a:latin typeface="DejaVu Sans"/>
                <a:ea typeface="DejaVu Sans"/>
                <a:cs typeface="DejaVu Sans"/>
              </a:defRPr>
            </a:defPPr>
          </a:lstStyle>
          <a:p xmlns:a="http://schemas.openxmlformats.org/drawingml/2006/main">
            <a:pPr>
              <a:defRPr sz="2100" b="0">
                <a:solidFill>
                  <a:srgbClr val="17343C"/>
                </a:solidFill>
                <a:latin typeface="DejaVu Sans"/>
                <a:ea typeface="DejaVu Sans"/>
                <a:cs typeface="DejaVu Sans"/>
              </a:defRPr>
            </a:pPr>
            <a:r>
              <a:rPr sz="2100" b="0">
                <a:solidFill>
                  <a:srgbClr val="17343C"/>
                </a:solidFill>
                <a:latin typeface="DejaVu Sans"/>
                <a:ea typeface="DejaVu Sans"/>
                <a:cs typeface="DejaVu Sans"/>
              </a:rPr>
              <a:t>Mỗi dòng cần đủ actual cho đúng horizon.</a:t>
            </a:r>
          </a:p>
          <a:p xmlns:a="http://schemas.openxmlformats.org/drawingml/2006/main">
            <a:r>
              <a:t/>
            </a:r>
          </a:p>
          <a:p xmlns:a="http://schemas.openxmlformats.org/drawingml/2006/main">
            <a:pPr>
              <a:defRPr sz="2100" b="0">
                <a:solidFill>
                  <a:srgbClr val="17343C"/>
                </a:solidFill>
                <a:latin typeface="DejaVu Sans"/>
                <a:ea typeface="DejaVu Sans"/>
                <a:cs typeface="DejaVu Sans"/>
              </a:defRPr>
            </a:pPr>
            <a:r>
              <a:rPr sz="2100" b="0">
                <a:solidFill>
                  <a:srgbClr val="17343C"/>
                </a:solidFill>
                <a:latin typeface="DejaVu Sans"/>
                <a:ea typeface="DejaVu Sans"/>
                <a:cs typeface="DejaVu Sans"/>
              </a:rPr>
              <a:t>Chờ thêm 120 giây sau khi target kết thúc.</a:t>
            </a:r>
          </a:p>
          <a:p xmlns:a="http://schemas.openxmlformats.org/drawingml/2006/main">
            <a:r>
              <a:t/>
            </a:r>
          </a:p>
          <a:p xmlns:a="http://schemas.openxmlformats.org/drawingml/2006/main">
            <a:pPr>
              <a:defRPr sz="2100" b="0">
                <a:solidFill>
                  <a:srgbClr val="17343C"/>
                </a:solidFill>
                <a:latin typeface="DejaVu Sans"/>
                <a:ea typeface="DejaVu Sans"/>
                <a:cs typeface="DejaVu Sans"/>
              </a:defRPr>
            </a:pPr>
            <a:r>
              <a:rPr sz="2100" b="0">
                <a:solidFill>
                  <a:srgbClr val="17343C"/>
                </a:solidFill>
                <a:latin typeface="DejaVu Sans"/>
                <a:ea typeface="DejaVu Sans"/>
                <a:cs typeface="DejaVu Sans"/>
              </a:rPr>
              <a:t>Prediction phát hành trễ được đếm riêng và loại khỏi phép chấm.</a:t>
            </a:r>
          </a:p>
          <a:p xmlns:a="http://schemas.openxmlformats.org/drawingml/2006/main">
            <a:r>
              <a:t/>
            </a:r>
          </a:p>
          <a:p xmlns:a="http://schemas.openxmlformats.org/drawingml/2006/main">
            <a:pPr>
              <a:defRPr sz="2100" b="0">
                <a:solidFill>
                  <a:srgbClr val="17343C"/>
                </a:solidFill>
                <a:latin typeface="DejaVu Sans"/>
                <a:ea typeface="DejaVu Sans"/>
                <a:cs typeface="DejaVu Sans"/>
              </a:defRPr>
            </a:pPr>
            <a:r>
              <a:rPr sz="2100" b="0">
                <a:solidFill>
                  <a:srgbClr val="17343C"/>
                </a:solidFill>
                <a:latin typeface="DejaVu Sans"/>
                <a:ea typeface="DejaVu Sans"/>
                <a:cs typeface="DejaVu Sans"/>
              </a:rPr>
              <a:t>Coverage và số mốc phải đi cùng WMAPE, bias.</a:t>
            </a:r>
          </a:p>
        </p:txBody>
      </p:sp>
    </p:spTree>
    <p:extLst>
      <p:ext uri="{BB962C8B-B14F-4D97-AF65-F5344CB8AC3E}">
        <p14:creationId xmlns:p14="http://schemas.microsoft.com/office/powerpoint/2010/main" val="119563534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90B5F1-0BCE-4EF3-BD08-FBB91CF928C5}"/>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Snapshot monitoring ngày 09 tháng 10</a:t>
            </a:r>
          </a:p>
        </p:txBody>
      </p:sp>
      <p:sp>
        <p:nvSpPr>
          <p:cNvPr id="2" name="">
            <a:extLst xmlns:a="http://schemas.openxmlformats.org/drawingml/2006/main">
              <a:ext uri="{FF2B5EF4-FFF2-40B4-BE49-F238E27FC236}">
                <a16:creationId xmlns:a16="http://schemas.microsoft.com/office/drawing/2014/main" id="{B22364B3-DA5A-43E2-83CC-85B8A8877811}"/>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báo cáo tuần 4 mục 2. Mỗi ô là WMAPE / bias (%).</a:t>
            </a:r>
          </a:p>
        </p:txBody>
      </p:sp>
      <p:sp>
        <p:nvSpPr>
          <p:cNvPr id="3" name="">
            <a:extLst xmlns:a="http://schemas.openxmlformats.org/drawingml/2006/main">
              <a:ext uri="{FF2B5EF4-FFF2-40B4-BE49-F238E27FC236}">
                <a16:creationId xmlns:a16="http://schemas.microsoft.com/office/drawing/2014/main" id="{1547DF95-80E8-4DAA-8A3D-463BD0D5CFCB}"/>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14</a:t>
            </a:r>
          </a:p>
        </p:txBody>
      </p:sp>
      <p:graphicFrame>
        <p:nvGraphicFramePr>
          <p:cNvPr id="4" name="">
            <a:extLst xmlns:a="http://schemas.openxmlformats.org/drawingml/2006/main">
              <a:ext uri="{FF2B5EF4-FFF2-40B4-BE49-F238E27FC236}">
                <a16:creationId xmlns:a16="http://schemas.microsoft.com/office/drawing/2014/main" id="{0E35E297-A9E6-4A8E-AE64-E672AA329562}"/>
              </a:ext>
            </a:extLst>
          </p:cNvPr>
          <p:cNvGraphicFramePr/>
          <p:nvPr/>
        </p:nvGraphicFramePr>
        <p:xfrm>
          <a:off xmlns:a="http://schemas.openxmlformats.org/drawingml/2006/main" x="609600" y="1571625"/>
          <a:ext xmlns:a="http://schemas.openxmlformats.org/drawingml/2006/main" cx="10972800" cy="3571875"/>
        </p:xfrm>
        <a:graphic xmlns:a="http://schemas.openxmlformats.org/drawingml/2006/main">
          <a:graphicData uri="http://schemas.openxmlformats.org/drawingml/2006/table">
            <a:tbl>
              <a:tblPr/>
              <a:tblGrid>
                <a:gridCol w="2809875"/>
                <a:gridCol w="2724150"/>
                <a:gridCol w="2724150"/>
                <a:gridCol w="2714625"/>
              </a:tblGrid>
              <a:tr h="510268">
                <a:tc>
                  <a:txBody>
                    <a:bodyPr/>
                    <a:lstStyle/>
                    <a:p>
                      <a:r>
                        <a:rPr sz="1725" b="1">
                          <a:solidFill>
                            <a:srgbClr val="FFFFFF"/>
                          </a:solidFill>
                          <a:latin typeface="DejaVu Sans"/>
                          <a:ea typeface="DejaVu Sans"/>
                          <a:cs typeface="DejaVu Sans"/>
                        </a:rPr>
                        <a:t>Model</a:t>
                      </a:r>
                    </a:p>
                  </a:txBody>
                  <a:tcPr marL="91440" marR="91440" marT="45720" marB="45720">
                    <a:solidFill>
                      <a:srgbClr val="17343C"/>
                    </a:solidFill>
                  </a:tcPr>
                </a:tc>
                <a:tc>
                  <a:txBody>
                    <a:bodyPr/>
                    <a:lstStyle/>
                    <a:p>
                      <a:r>
                        <a:rPr sz="1725" b="1">
                          <a:solidFill>
                            <a:srgbClr val="FFFFFF"/>
                          </a:solidFill>
                          <a:latin typeface="DejaVu Sans"/>
                          <a:ea typeface="DejaVu Sans"/>
                          <a:cs typeface="DejaVu Sans"/>
                        </a:rPr>
                        <a:t>09–10h</a:t>
                      </a:r>
                    </a:p>
                  </a:txBody>
                  <a:tcPr marL="91440" marR="91440" marT="45720" marB="45720">
                    <a:solidFill>
                      <a:srgbClr val="17343C"/>
                    </a:solidFill>
                  </a:tcPr>
                </a:tc>
                <a:tc>
                  <a:txBody>
                    <a:bodyPr/>
                    <a:lstStyle/>
                    <a:p>
                      <a:r>
                        <a:rPr sz="1725" b="1">
                          <a:solidFill>
                            <a:srgbClr val="FFFFFF"/>
                          </a:solidFill>
                          <a:latin typeface="DejaVu Sans"/>
                          <a:ea typeface="DejaVu Sans"/>
                          <a:cs typeface="DejaVu Sans"/>
                        </a:rPr>
                        <a:t>10–11h</a:t>
                      </a:r>
                    </a:p>
                  </a:txBody>
                  <a:tcPr marL="91440" marR="91440" marT="45720" marB="45720">
                    <a:solidFill>
                      <a:srgbClr val="17343C"/>
                    </a:solidFill>
                  </a:tcPr>
                </a:tc>
                <a:tc>
                  <a:txBody>
                    <a:bodyPr/>
                    <a:lstStyle/>
                    <a:p>
                      <a:r>
                        <a:rPr sz="1725" b="1">
                          <a:solidFill>
                            <a:srgbClr val="FFFFFF"/>
                          </a:solidFill>
                          <a:latin typeface="DejaVu Sans"/>
                          <a:ea typeface="DejaVu Sans"/>
                          <a:cs typeface="DejaVu Sans"/>
                        </a:rPr>
                        <a:t>11–12h</a:t>
                      </a:r>
                    </a:p>
                  </a:txBody>
                  <a:tcPr marL="91440" marR="91440" marT="45720" marB="45720">
                    <a:solidFill>
                      <a:srgbClr val="17343C"/>
                    </a:solidFill>
                  </a:tcPr>
                </a:tc>
              </a:tr>
              <a:tr h="510268">
                <a:tc>
                  <a:txBody>
                    <a:bodyPr/>
                    <a:lstStyle/>
                    <a:p>
                      <a:r>
                        <a:rPr sz="1725" b="0">
                          <a:solidFill>
                            <a:srgbClr val="17343C"/>
                          </a:solidFill>
                          <a:latin typeface="DejaVu Sans"/>
                          <a:ea typeface="DejaVu Sans"/>
                          <a:cs typeface="DejaVu Sans"/>
                        </a:rPr>
                        <a:t>Car H10</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11,85 / +3,43</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11,52 / +1,38</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11,86 / −0,88</a:t>
                      </a:r>
                    </a:p>
                  </a:txBody>
                  <a:tcPr marL="91440" marR="91440" marT="45720" marB="45720">
                    <a:solidFill>
                      <a:srgbClr val="FFFFFF"/>
                    </a:solidFill>
                  </a:tcPr>
                </a:tc>
              </a:tr>
              <a:tr h="510268">
                <a:tc>
                  <a:txBody>
                    <a:bodyPr/>
                    <a:lstStyle/>
                    <a:p>
                      <a:r>
                        <a:rPr sz="1725" b="0">
                          <a:solidFill>
                            <a:srgbClr val="17343C"/>
                          </a:solidFill>
                          <a:latin typeface="DejaVu Sans"/>
                          <a:ea typeface="DejaVu Sans"/>
                          <a:cs typeface="DejaVu Sans"/>
                        </a:rPr>
                        <a:t>Car H30</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10,80 / +3,53</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10,90 / +2,11</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10,95 / −2,13</a:t>
                      </a:r>
                    </a:p>
                  </a:txBody>
                  <a:tcPr marL="91440" marR="91440" marT="45720" marB="45720">
                    <a:solidFill>
                      <a:srgbClr val="EDF5F4"/>
                    </a:solidFill>
                  </a:tcPr>
                </a:tc>
              </a:tr>
              <a:tr h="510268">
                <a:tc>
                  <a:txBody>
                    <a:bodyPr/>
                    <a:lstStyle/>
                    <a:p>
                      <a:r>
                        <a:rPr sz="1725" b="0">
                          <a:solidFill>
                            <a:srgbClr val="17343C"/>
                          </a:solidFill>
                          <a:latin typeface="DejaVu Sans"/>
                          <a:ea typeface="DejaVu Sans"/>
                          <a:cs typeface="DejaVu Sans"/>
                        </a:rPr>
                        <a:t>Car H60</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12,54 / +4,54</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13,44 / +2,50</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14,10 / −3,17</a:t>
                      </a:r>
                    </a:p>
                  </a:txBody>
                  <a:tcPr marL="91440" marR="91440" marT="45720" marB="45720">
                    <a:solidFill>
                      <a:srgbClr val="FFFFFF"/>
                    </a:solidFill>
                  </a:tcPr>
                </a:tc>
              </a:tr>
              <a:tr h="510268">
                <a:tc>
                  <a:txBody>
                    <a:bodyPr/>
                    <a:lstStyle/>
                    <a:p>
                      <a:r>
                        <a:rPr sz="1725" b="0">
                          <a:solidFill>
                            <a:srgbClr val="17343C"/>
                          </a:solidFill>
                          <a:latin typeface="DejaVu Sans"/>
                          <a:ea typeface="DejaVu Sans"/>
                          <a:cs typeface="DejaVu Sans"/>
                        </a:rPr>
                        <a:t>Moto H10</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11,25 / +2,35</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12,12 / +0,83</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11,93 / −0,07</a:t>
                      </a:r>
                    </a:p>
                  </a:txBody>
                  <a:tcPr marL="91440" marR="91440" marT="45720" marB="45720">
                    <a:solidFill>
                      <a:srgbClr val="EDF5F4"/>
                    </a:solidFill>
                  </a:tcPr>
                </a:tc>
              </a:tr>
              <a:tr h="510268">
                <a:tc>
                  <a:txBody>
                    <a:bodyPr/>
                    <a:lstStyle/>
                    <a:p>
                      <a:r>
                        <a:rPr sz="1725" b="0">
                          <a:solidFill>
                            <a:srgbClr val="17343C"/>
                          </a:solidFill>
                          <a:latin typeface="DejaVu Sans"/>
                          <a:ea typeface="DejaVu Sans"/>
                          <a:cs typeface="DejaVu Sans"/>
                        </a:rPr>
                        <a:t>Moto H30</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10,90 / +2,33</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11,64 / +0,80</a:t>
                      </a:r>
                    </a:p>
                  </a:txBody>
                  <a:tcPr marL="91440" marR="91440" marT="45720" marB="45720">
                    <a:solidFill>
                      <a:srgbClr val="FFFFFF"/>
                    </a:solidFill>
                  </a:tcPr>
                </a:tc>
                <a:tc>
                  <a:txBody>
                    <a:bodyPr/>
                    <a:lstStyle/>
                    <a:p>
                      <a:r>
                        <a:rPr sz="1725" b="0">
                          <a:solidFill>
                            <a:srgbClr val="17343C"/>
                          </a:solidFill>
                          <a:latin typeface="DejaVu Sans"/>
                          <a:ea typeface="DejaVu Sans"/>
                          <a:cs typeface="DejaVu Sans"/>
                        </a:rPr>
                        <a:t>11,17 / −0,71</a:t>
                      </a:r>
                    </a:p>
                  </a:txBody>
                  <a:tcPr marL="91440" marR="91440" marT="45720" marB="45720">
                    <a:solidFill>
                      <a:srgbClr val="FFFFFF"/>
                    </a:solidFill>
                  </a:tcPr>
                </a:tc>
              </a:tr>
              <a:tr h="510268">
                <a:tc>
                  <a:txBody>
                    <a:bodyPr/>
                    <a:lstStyle/>
                    <a:p>
                      <a:r>
                        <a:rPr sz="1725" b="0">
                          <a:solidFill>
                            <a:srgbClr val="17343C"/>
                          </a:solidFill>
                          <a:latin typeface="DejaVu Sans"/>
                          <a:ea typeface="DejaVu Sans"/>
                          <a:cs typeface="DejaVu Sans"/>
                        </a:rPr>
                        <a:t>Moto H60</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13,67 / +4,46</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15,29 / +1,28</a:t>
                      </a:r>
                    </a:p>
                  </a:txBody>
                  <a:tcPr marL="91440" marR="91440" marT="45720" marB="45720">
                    <a:solidFill>
                      <a:srgbClr val="EDF5F4"/>
                    </a:solidFill>
                  </a:tcPr>
                </a:tc>
                <a:tc>
                  <a:txBody>
                    <a:bodyPr/>
                    <a:lstStyle/>
                    <a:p>
                      <a:r>
                        <a:rPr sz="1725" b="0">
                          <a:solidFill>
                            <a:srgbClr val="17343C"/>
                          </a:solidFill>
                          <a:latin typeface="DejaVu Sans"/>
                          <a:ea typeface="DejaVu Sans"/>
                          <a:cs typeface="DejaVu Sans"/>
                        </a:rPr>
                        <a:t>14,41 / −0,46</a:t>
                      </a:r>
                    </a:p>
                  </a:txBody>
                  <a:tcPr marL="91440" marR="91440" marT="45720" marB="45720">
                    <a:solidFill>
                      <a:srgbClr val="EDF5F4"/>
                    </a:solidFill>
                  </a:tcPr>
                </a:tc>
              </a:tr>
            </a:tbl>
          </a:graphicData>
        </a:graphic>
      </p:graphicFrame>
      <p:sp>
        <p:nvSpPr>
          <p:cNvPr id="5" name="">
            <a:extLst xmlns:a="http://schemas.openxmlformats.org/drawingml/2006/main">
              <a:ext uri="{FF2B5EF4-FFF2-40B4-BE49-F238E27FC236}">
                <a16:creationId xmlns:a16="http://schemas.microsoft.com/office/drawing/2014/main" id="{37932205-09B6-434D-9508-9D252AD65198}"/>
              </a:ext>
            </a:extLst>
          </p:cNvPr>
          <p:cNvSpPr>
            <a:spLocks xmlns:a="http://schemas.openxmlformats.org/drawingml/2006/main" noGrp="1"/>
          </p:cNvSpPr>
          <p:nvPr/>
        </p:nvSpPr>
        <p:spPr>
          <a:xfrm xmlns:a="http://schemas.openxmlformats.org/drawingml/2006/main">
            <a:off x="609600" y="5400675"/>
            <a:ext cx="1076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43C"/>
                </a:solidFill>
                <a:latin typeface="DejaVu Sans"/>
                <a:ea typeface="DejaVu Sans"/>
                <a:cs typeface="DejaVu Sans"/>
              </a:defRPr>
            </a:defPPr>
          </a:lstStyle>
          <a:p xmlns:a="http://schemas.openxmlformats.org/drawingml/2006/main">
            <a:pPr>
              <a:defRPr sz="2025" b="0">
                <a:solidFill>
                  <a:srgbClr val="17343C"/>
                </a:solidFill>
                <a:latin typeface="DejaVu Sans"/>
                <a:ea typeface="DejaVu Sans"/>
                <a:cs typeface="DejaVu Sans"/>
              </a:defRPr>
            </a:pPr>
            <a:r>
              <a:rPr sz="2025" b="0">
                <a:solidFill>
                  <a:srgbClr val="17343C"/>
                </a:solidFill>
                <a:latin typeface="DejaVu Sans"/>
                <a:ea typeface="DejaVu Sans"/>
                <a:cs typeface="DejaVu Sans"/>
              </a:rPr>
              <a:t>Bias đổi dấu giữa các khung.</a:t>
            </a:r>
          </a:p>
          <a:p xmlns:a="http://schemas.openxmlformats.org/drawingml/2006/main">
            <a:pPr>
              <a:defRPr sz="2025" b="0">
                <a:solidFill>
                  <a:srgbClr val="17343C"/>
                </a:solidFill>
                <a:latin typeface="DejaVu Sans"/>
                <a:ea typeface="DejaVu Sans"/>
                <a:cs typeface="DejaVu Sans"/>
              </a:defRPr>
            </a:pPr>
            <a:r>
              <a:rPr sz="2025" b="0">
                <a:solidFill>
                  <a:srgbClr val="17343C"/>
                </a:solidFill>
                <a:latin typeface="DejaVu Sans"/>
                <a:ea typeface="DejaVu Sans"/>
                <a:cs typeface="DejaVu Sans"/>
              </a:rPr>
              <a:t>Ba giờ quan sát chưa đủ kết luận ổn định dài hạn.</a:t>
            </a:r>
          </a:p>
        </p:txBody>
      </p:sp>
    </p:spTree>
    <p:extLst>
      <p:ext uri="{BB962C8B-B14F-4D97-AF65-F5344CB8AC3E}">
        <p14:creationId xmlns:p14="http://schemas.microsoft.com/office/powerpoint/2010/main" val="9191933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0EE5BA-7C9A-4777-819A-B2E455183E6E}"/>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Đủ mốc dự báo nhưng còn thiếu actual</a:t>
            </a:r>
          </a:p>
        </p:txBody>
      </p:sp>
      <p:sp>
        <p:nvSpPr>
          <p:cNvPr id="2" name="">
            <a:extLst xmlns:a="http://schemas.openxmlformats.org/drawingml/2006/main">
              <a:ext uri="{FF2B5EF4-FFF2-40B4-BE49-F238E27FC236}">
                <a16:creationId xmlns:a16="http://schemas.microsoft.com/office/drawing/2014/main" id="{514DEBC2-33EB-47C8-A2D0-060481C4792B}"/>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báo cáo tuần 4 mục 3. Khung không có prediction trễ.</a:t>
            </a:r>
          </a:p>
        </p:txBody>
      </p:sp>
      <p:sp>
        <p:nvSpPr>
          <p:cNvPr id="3" name="">
            <a:extLst xmlns:a="http://schemas.openxmlformats.org/drawingml/2006/main">
              <a:ext uri="{FF2B5EF4-FFF2-40B4-BE49-F238E27FC236}">
                <a16:creationId xmlns:a16="http://schemas.microsoft.com/office/drawing/2014/main" id="{A544A3DB-F058-4926-9BF3-428086E597DA}"/>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15</a:t>
            </a:r>
          </a:p>
        </p:txBody>
      </p:sp>
      <p:graphicFrame>
        <p:nvGraphicFramePr>
          <p:cNvPr id="4" name="Chart">
            <a:extLst xmlns:a="http://schemas.openxmlformats.org/drawingml/2006/main">
              <a:ext uri="{FF2B5EF4-FFF2-40B4-BE49-F238E27FC236}">
                <a16:creationId xmlns:a16="http://schemas.microsoft.com/office/drawing/2014/main" id="{85D2915E-6240-4DFC-BC99-140511C6ACC6}"/>
              </a:ext>
            </a:extLst>
          </p:cNvPr>
          <p:cNvGraphicFramePr/>
          <p:nvPr/>
        </p:nvGraphicFramePr>
        <p:xfrm>
          <a:off xmlns:a="http://schemas.openxmlformats.org/drawingml/2006/main" x="609600" y="180975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dee4441b42e149db"/>
          </a:graphicData>
        </a:graphic>
      </p:graphicFrame>
      <p:sp>
        <p:nvSpPr>
          <p:cNvPr id="5" name="">
            <a:extLst xmlns:a="http://schemas.openxmlformats.org/drawingml/2006/main">
              <a:ext uri="{FF2B5EF4-FFF2-40B4-BE49-F238E27FC236}">
                <a16:creationId xmlns:a16="http://schemas.microsoft.com/office/drawing/2014/main" id="{47C995ED-E5FF-4BA3-B034-761247A3BAB1}"/>
              </a:ext>
            </a:extLst>
          </p:cNvPr>
          <p:cNvSpPr>
            <a:spLocks xmlns:a="http://schemas.openxmlformats.org/drawingml/2006/main" noGrp="1"/>
          </p:cNvSpPr>
          <p:nvPr/>
        </p:nvSpPr>
        <p:spPr>
          <a:xfrm xmlns:a="http://schemas.openxmlformats.org/drawingml/2006/main">
            <a:off x="8143875" y="1876425"/>
            <a:ext cx="323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1.302 dòng</a:t>
            </a:r>
          </a:p>
        </p:txBody>
      </p:sp>
      <p:sp>
        <p:nvSpPr>
          <p:cNvPr id="6" name="">
            <a:extLst xmlns:a="http://schemas.openxmlformats.org/drawingml/2006/main">
              <a:ext uri="{FF2B5EF4-FFF2-40B4-BE49-F238E27FC236}">
                <a16:creationId xmlns:a16="http://schemas.microsoft.com/office/drawing/2014/main" id="{89F96E3F-D205-4C54-A646-3E43B807D782}"/>
              </a:ext>
            </a:extLst>
          </p:cNvPr>
          <p:cNvSpPr>
            <a:spLocks xmlns:a="http://schemas.openxmlformats.org/drawingml/2006/main" noGrp="1"/>
          </p:cNvSpPr>
          <p:nvPr/>
        </p:nvSpPr>
        <p:spPr>
          <a:xfrm xmlns:a="http://schemas.openxmlformats.org/drawingml/2006/main">
            <a:off x="8143875" y="2686050"/>
            <a:ext cx="323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3C"/>
                </a:solidFill>
                <a:latin typeface="DejaVu Sans"/>
                <a:ea typeface="DejaVu Sans"/>
                <a:cs typeface="DejaVu Sans"/>
              </a:defRPr>
            </a:defPPr>
          </a:lstStyle>
          <a:p xmlns:a="http://schemas.openxmlformats.org/drawingml/2006/main">
            <a:pPr>
              <a:defRPr sz="2100" b="0">
                <a:solidFill>
                  <a:srgbClr val="17343C"/>
                </a:solidFill>
                <a:latin typeface="DejaVu Sans"/>
                <a:ea typeface="DejaVu Sans"/>
                <a:cs typeface="DejaVu Sans"/>
              </a:defRPr>
            </a:pPr>
            <a:r>
              <a:rPr sz="2100" b="0">
                <a:solidFill>
                  <a:srgbClr val="17343C"/>
                </a:solidFill>
                <a:latin typeface="DejaVu Sans"/>
                <a:ea typeface="DejaVu Sans"/>
                <a:cs typeface="DejaVu Sans"/>
              </a:rPr>
              <a:t>kỳ vọng mỗi model</a:t>
            </a:r>
          </a:p>
          <a:p xmlns:a="http://schemas.openxmlformats.org/drawingml/2006/main">
            <a:pPr>
              <a:defRPr sz="2100" b="0">
                <a:solidFill>
                  <a:srgbClr val="17343C"/>
                </a:solidFill>
                <a:latin typeface="DejaVu Sans"/>
                <a:ea typeface="DejaVu Sans"/>
                <a:cs typeface="DejaVu Sans"/>
              </a:defRPr>
            </a:pPr>
            <a:r>
              <a:rPr sz="2100" b="0">
                <a:solidFill>
                  <a:srgbClr val="17343C"/>
                </a:solidFill>
                <a:latin typeface="DejaVu Sans"/>
                <a:ea typeface="DejaVu Sans"/>
                <a:cs typeface="DejaVu Sans"/>
              </a:rPr>
              <a:t>trong một giờ</a:t>
            </a:r>
          </a:p>
        </p:txBody>
      </p:sp>
      <p:sp>
        <p:nvSpPr>
          <p:cNvPr id="7" name="">
            <a:extLst xmlns:a="http://schemas.openxmlformats.org/drawingml/2006/main">
              <a:ext uri="{FF2B5EF4-FFF2-40B4-BE49-F238E27FC236}">
                <a16:creationId xmlns:a16="http://schemas.microsoft.com/office/drawing/2014/main" id="{CD3F8ED4-EFA4-43E1-B9DD-E56D3A0E7A27}"/>
              </a:ext>
            </a:extLst>
          </p:cNvPr>
          <p:cNvSpPr>
            <a:spLocks xmlns:a="http://schemas.openxmlformats.org/drawingml/2006/main" noGrp="1"/>
          </p:cNvSpPr>
          <p:nvPr/>
        </p:nvSpPr>
        <p:spPr>
          <a:xfrm xmlns:a="http://schemas.openxmlformats.org/drawingml/2006/main">
            <a:off x="8143875" y="41148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8F8C"/>
                </a:solidFill>
                <a:latin typeface="DejaVu Sans"/>
                <a:ea typeface="DejaVu Sans"/>
                <a:cs typeface="DejaVu Sans"/>
              </a:defRPr>
            </a:defPPr>
          </a:lstStyle>
          <a:p xmlns:a="http://schemas.openxmlformats.org/drawingml/2006/main">
            <a:pPr>
              <a:defRPr sz="2250" b="1">
                <a:solidFill>
                  <a:srgbClr val="008F8C"/>
                </a:solidFill>
                <a:latin typeface="DejaVu Sans"/>
                <a:ea typeface="DejaVu Sans"/>
                <a:cs typeface="DejaVu Sans"/>
              </a:defRPr>
            </a:pPr>
            <a:r>
              <a:rPr sz="2250" b="1">
                <a:solidFill>
                  <a:srgbClr val="008F8C"/>
                </a:solidFill>
                <a:latin typeface="DejaVu Sans"/>
                <a:ea typeface="DejaVu Sans"/>
                <a:cs typeface="DejaVu Sans"/>
              </a:rPr>
              <a:t>Metric chỉ đại diện</a:t>
            </a:r>
          </a:p>
          <a:p xmlns:a="http://schemas.openxmlformats.org/drawingml/2006/main">
            <a:pPr>
              <a:defRPr sz="2250" b="1">
                <a:solidFill>
                  <a:srgbClr val="008F8C"/>
                </a:solidFill>
                <a:latin typeface="DejaVu Sans"/>
                <a:ea typeface="DejaVu Sans"/>
                <a:cs typeface="DejaVu Sans"/>
              </a:defRPr>
            </a:pPr>
            <a:r>
              <a:rPr sz="2250" b="1">
                <a:solidFill>
                  <a:srgbClr val="008F8C"/>
                </a:solidFill>
                <a:latin typeface="DejaVu Sans"/>
                <a:ea typeface="DejaVu Sans"/>
                <a:cs typeface="DejaVu Sans"/>
              </a:rPr>
              <a:t>phần đủ actual.</a:t>
            </a:r>
          </a:p>
        </p:txBody>
      </p:sp>
      <p:sp>
        <p:nvSpPr>
          <p:cNvPr id="8" name="">
            <a:extLst xmlns:a="http://schemas.openxmlformats.org/drawingml/2006/main">
              <a:ext uri="{FF2B5EF4-FFF2-40B4-BE49-F238E27FC236}">
                <a16:creationId xmlns:a16="http://schemas.microsoft.com/office/drawing/2014/main" id="{AF5AAD09-E2FB-4A1A-B866-3F28799DE7F2}"/>
              </a:ext>
            </a:extLst>
          </p:cNvPr>
          <p:cNvSpPr>
            <a:spLocks xmlns:a="http://schemas.openxmlformats.org/drawingml/2006/main" noGrp="1"/>
          </p:cNvSpPr>
          <p:nvPr/>
        </p:nvSpPr>
        <p:spPr>
          <a:xfrm xmlns:a="http://schemas.openxmlformats.org/drawingml/2006/main">
            <a:off x="609600" y="55626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3C"/>
                </a:solidFill>
                <a:latin typeface="DejaVu Sans"/>
                <a:ea typeface="DejaVu Sans"/>
                <a:cs typeface="DejaVu Sans"/>
              </a:defRPr>
            </a:defPPr>
          </a:lstStyle>
          <a:p xmlns:a="http://schemas.openxmlformats.org/drawingml/2006/main">
            <a:pPr>
              <a:defRPr sz="2100" b="0">
                <a:solidFill>
                  <a:srgbClr val="17343C"/>
                </a:solidFill>
                <a:latin typeface="DejaVu Sans"/>
                <a:ea typeface="DejaVu Sans"/>
                <a:cs typeface="DejaVu Sans"/>
              </a:defRPr>
            </a:pPr>
            <a:r>
              <a:rPr sz="2100" b="0">
                <a:solidFill>
                  <a:srgbClr val="17343C"/>
                </a:solidFill>
                <a:latin typeface="DejaVu Sans"/>
                <a:ea typeface="DejaVu Sans"/>
                <a:cs typeface="DejaVu Sans"/>
              </a:rPr>
              <a:t>Cần đối chiếu phạm vi hex trước khi kết luận mất dữ liệu.</a:t>
            </a:r>
          </a:p>
        </p:txBody>
      </p:sp>
    </p:spTree>
    <p:extLst>
      <p:ext uri="{BB962C8B-B14F-4D97-AF65-F5344CB8AC3E}">
        <p14:creationId xmlns:p14="http://schemas.microsoft.com/office/powerpoint/2010/main" val="3833930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CAB0E1-82E5-4468-97AE-49660C6249D0}"/>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PSI cao cần được đối chiếu với actual</a:t>
            </a:r>
          </a:p>
        </p:txBody>
      </p:sp>
      <p:sp>
        <p:nvSpPr>
          <p:cNvPr id="2" name="">
            <a:extLst xmlns:a="http://schemas.openxmlformats.org/drawingml/2006/main">
              <a:ext uri="{FF2B5EF4-FFF2-40B4-BE49-F238E27FC236}">
                <a16:creationId xmlns:a16="http://schemas.microsoft.com/office/drawing/2014/main" id="{0A31DE0A-259B-4FAE-BE88-1D387F70B9E2}"/>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MONITORING.md và snapshot distribution trong báo cáo tuần 4.</a:t>
            </a:r>
          </a:p>
        </p:txBody>
      </p:sp>
      <p:sp>
        <p:nvSpPr>
          <p:cNvPr id="3" name="">
            <a:extLst xmlns:a="http://schemas.openxmlformats.org/drawingml/2006/main">
              <a:ext uri="{FF2B5EF4-FFF2-40B4-BE49-F238E27FC236}">
                <a16:creationId xmlns:a16="http://schemas.microsoft.com/office/drawing/2014/main" id="{90594CB0-0BF8-4163-93C2-17A3820A0999}"/>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16</a:t>
            </a:r>
          </a:p>
        </p:txBody>
      </p:sp>
      <p:graphicFrame>
        <p:nvGraphicFramePr>
          <p:cNvPr id="4" name="">
            <a:extLst xmlns:a="http://schemas.openxmlformats.org/drawingml/2006/main">
              <a:ext uri="{FF2B5EF4-FFF2-40B4-BE49-F238E27FC236}">
                <a16:creationId xmlns:a16="http://schemas.microsoft.com/office/drawing/2014/main" id="{C41D2F5B-100E-4FFC-BD73-1FF5AF685BDC}"/>
              </a:ext>
            </a:extLst>
          </p:cNvPr>
          <p:cNvGraphicFramePr/>
          <p:nvPr/>
        </p:nvGraphicFramePr>
        <p:xfrm>
          <a:off xmlns:a="http://schemas.openxmlformats.org/drawingml/2006/main" x="609600" y="1571625"/>
          <a:ext xmlns:a="http://schemas.openxmlformats.org/drawingml/2006/main" cx="10972800" cy="2619375"/>
        </p:xfrm>
        <a:graphic xmlns:a="http://schemas.openxmlformats.org/drawingml/2006/main">
          <a:graphicData uri="http://schemas.openxmlformats.org/drawingml/2006/table">
            <a:tbl>
              <a:tblPr/>
              <a:tblGrid>
                <a:gridCol w="2952750"/>
                <a:gridCol w="8020050"/>
              </a:tblGrid>
              <a:tr h="654844">
                <a:tc>
                  <a:txBody>
                    <a:bodyPr/>
                    <a:lstStyle/>
                    <a:p>
                      <a:r>
                        <a:rPr sz="1875" b="1">
                          <a:solidFill>
                            <a:srgbClr val="FFFFFF"/>
                          </a:solidFill>
                          <a:latin typeface="DejaVu Sans"/>
                          <a:ea typeface="DejaVu Sans"/>
                          <a:cs typeface="DejaVu Sans"/>
                        </a:rPr>
                        <a:t>Phần so sánh</a:t>
                      </a:r>
                    </a:p>
                  </a:txBody>
                  <a:tcPr marL="91440" marR="91440" marT="45720" marB="45720">
                    <a:solidFill>
                      <a:srgbClr val="17343C"/>
                    </a:solidFill>
                  </a:tcPr>
                </a:tc>
                <a:tc>
                  <a:txBody>
                    <a:bodyPr/>
                    <a:lstStyle/>
                    <a:p>
                      <a:r>
                        <a:rPr sz="1875" b="1">
                          <a:solidFill>
                            <a:srgbClr val="FFFFFF"/>
                          </a:solidFill>
                          <a:latin typeface="DejaVu Sans"/>
                          <a:ea typeface="DejaVu Sans"/>
                          <a:cs typeface="DejaVu Sans"/>
                        </a:rPr>
                        <a:t>Dữ liệu</a:t>
                      </a:r>
                    </a:p>
                  </a:txBody>
                  <a:tcPr marL="91440" marR="91440" marT="45720" marB="45720">
                    <a:solidFill>
                      <a:srgbClr val="17343C"/>
                    </a:solidFill>
                  </a:tcPr>
                </a:tc>
              </a:tr>
              <a:tr h="654844">
                <a:tc>
                  <a:txBody>
                    <a:bodyPr/>
                    <a:lstStyle/>
                    <a:p>
                      <a:r>
                        <a:rPr sz="1875" b="0">
                          <a:solidFill>
                            <a:srgbClr val="17343C"/>
                          </a:solidFill>
                          <a:latin typeface="DejaVu Sans"/>
                          <a:ea typeface="DejaVu Sans"/>
                          <a:cs typeface="DejaVu Sans"/>
                        </a:rPr>
                        <a:t>Serving</a:t>
                      </a:r>
                    </a:p>
                  </a:txBody>
                  <a:tcPr marL="91440" marR="91440" marT="45720" marB="45720">
                    <a:solidFill>
                      <a:srgbClr val="FFFFFF"/>
                    </a:solidFill>
                  </a:tcPr>
                </a:tc>
                <a:tc>
                  <a:txBody>
                    <a:bodyPr/>
                    <a:lstStyle/>
                    <a:p>
                      <a:r>
                        <a:rPr sz="1875" b="0">
                          <a:solidFill>
                            <a:srgbClr val="17343C"/>
                          </a:solidFill>
                          <a:latin typeface="DejaVu Sans"/>
                          <a:ea typeface="DejaVu Sans"/>
                          <a:cs typeface="DejaVu Sans"/>
                        </a:rPr>
                        <a:t>Prediction 24 giờ gần nhất</a:t>
                      </a:r>
                    </a:p>
                  </a:txBody>
                  <a:tcPr marL="91440" marR="91440" marT="45720" marB="45720">
                    <a:solidFill>
                      <a:srgbClr val="FFFFFF"/>
                    </a:solidFill>
                  </a:tcPr>
                </a:tc>
              </a:tr>
              <a:tr h="654844">
                <a:tc>
                  <a:txBody>
                    <a:bodyPr/>
                    <a:lstStyle/>
                    <a:p>
                      <a:r>
                        <a:rPr sz="1875" b="0">
                          <a:solidFill>
                            <a:srgbClr val="17343C"/>
                          </a:solidFill>
                          <a:latin typeface="DejaVu Sans"/>
                          <a:ea typeface="DejaVu Sans"/>
                          <a:cs typeface="DejaVu Sans"/>
                        </a:rPr>
                        <a:t>Reference</a:t>
                      </a:r>
                    </a:p>
                  </a:txBody>
                  <a:tcPr marL="91440" marR="91440" marT="45720" marB="45720">
                    <a:solidFill>
                      <a:srgbClr val="EDF5F4"/>
                    </a:solidFill>
                  </a:tcPr>
                </a:tc>
                <a:tc>
                  <a:txBody>
                    <a:bodyPr/>
                    <a:lstStyle/>
                    <a:p>
                      <a:r>
                        <a:rPr sz="1875" b="0">
                          <a:solidFill>
                            <a:srgbClr val="17343C"/>
                          </a:solidFill>
                          <a:latin typeface="DejaVu Sans"/>
                          <a:ea typeface="DejaVu Sans"/>
                          <a:cs typeface="DejaVu Sans"/>
                        </a:rPr>
                        <a:t>Prediction trên TRAIN + validation dùng fit</a:t>
                      </a:r>
                    </a:p>
                  </a:txBody>
                  <a:tcPr marL="91440" marR="91440" marT="45720" marB="45720">
                    <a:solidFill>
                      <a:srgbClr val="EDF5F4"/>
                    </a:solidFill>
                  </a:tcPr>
                </a:tc>
              </a:tr>
              <a:tr h="654844">
                <a:tc>
                  <a:txBody>
                    <a:bodyPr/>
                    <a:lstStyle/>
                    <a:p>
                      <a:r>
                        <a:rPr sz="1875" b="0">
                          <a:solidFill>
                            <a:srgbClr val="17343C"/>
                          </a:solidFill>
                          <a:latin typeface="DejaVu Sans"/>
                          <a:ea typeface="DejaVu Sans"/>
                          <a:cs typeface="DejaVu Sans"/>
                        </a:rPr>
                        <a:t>Điều kiện</a:t>
                      </a:r>
                    </a:p>
                  </a:txBody>
                  <a:tcPr marL="91440" marR="91440" marT="45720" marB="45720">
                    <a:solidFill>
                      <a:srgbClr val="FFFFFF"/>
                    </a:solidFill>
                  </a:tcPr>
                </a:tc>
                <a:tc>
                  <a:txBody>
                    <a:bodyPr/>
                    <a:lstStyle/>
                    <a:p>
                      <a:r>
                        <a:rPr sz="1875" b="0">
                          <a:solidFill>
                            <a:srgbClr val="17343C"/>
                          </a:solidFill>
                          <a:latin typeface="DejaVu Sans"/>
                          <a:ea typeface="DejaVu Sans"/>
                          <a:cs typeface="DejaVu Sans"/>
                        </a:rPr>
                        <a:t>Cùng model version và cách chia bins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97337D8-5DC8-4EC8-88E2-C6C0E44AD671}"/>
              </a:ext>
            </a:extLst>
          </p:cNvPr>
          <p:cNvSpPr>
            <a:spLocks xmlns:a="http://schemas.openxmlformats.org/drawingml/2006/main" noGrp="1"/>
          </p:cNvSpPr>
          <p:nvPr/>
        </p:nvSpPr>
        <p:spPr>
          <a:xfrm xmlns:a="http://schemas.openxmlformats.org/drawingml/2006/main">
            <a:off x="609600" y="4648200"/>
            <a:ext cx="1076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43C"/>
                </a:solidFill>
                <a:latin typeface="DejaVu Sans"/>
                <a:ea typeface="DejaVu Sans"/>
                <a:cs typeface="DejaVu Sans"/>
              </a:defRPr>
            </a:defPPr>
          </a:lstStyle>
          <a:p xmlns:a="http://schemas.openxmlformats.org/drawingml/2006/main">
            <a:pPr>
              <a:defRPr sz="2175" b="0">
                <a:solidFill>
                  <a:srgbClr val="17343C"/>
                </a:solidFill>
                <a:latin typeface="DejaVu Sans"/>
                <a:ea typeface="DejaVu Sans"/>
                <a:cs typeface="DejaVu Sans"/>
              </a:defRPr>
            </a:pPr>
            <a:r>
              <a:rPr sz="2175" b="0">
                <a:solidFill>
                  <a:srgbClr val="17343C"/>
                </a:solidFill>
                <a:latin typeface="DejaVu Sans"/>
                <a:ea typeface="DejaVu Sans"/>
                <a:cs typeface="DejaVu Sans"/>
              </a:rPr>
              <a:t>Ngoài range bằng 0% vẫn có thể đi cùng PSI cao.</a:t>
            </a:r>
          </a:p>
          <a:p xmlns:a="http://schemas.openxmlformats.org/drawingml/2006/main">
            <a:r>
              <a:t/>
            </a:r>
          </a:p>
          <a:p xmlns:a="http://schemas.openxmlformats.org/drawingml/2006/main">
            <a:pPr>
              <a:defRPr sz="2175" b="0">
                <a:solidFill>
                  <a:srgbClr val="17343C"/>
                </a:solidFill>
                <a:latin typeface="DejaVu Sans"/>
                <a:ea typeface="DejaVu Sans"/>
                <a:cs typeface="DejaVu Sans"/>
              </a:defRPr>
            </a:pPr>
            <a:r>
              <a:rPr sz="2175" b="0">
                <a:solidFill>
                  <a:srgbClr val="17343C"/>
                </a:solidFill>
                <a:latin typeface="DejaVu Sans"/>
                <a:ea typeface="DejaVu Sans"/>
                <a:cs typeface="DejaVu Sans"/>
              </a:rPr>
              <a:t>Tỷ trọng các mức demand đã đổi, nhưng chưa thể kết luận dự báo thiếu.</a:t>
            </a:r>
          </a:p>
        </p:txBody>
      </p:sp>
    </p:spTree>
    <p:extLst>
      <p:ext uri="{BB962C8B-B14F-4D97-AF65-F5344CB8AC3E}">
        <p14:creationId xmlns:p14="http://schemas.microsoft.com/office/powerpoint/2010/main" val="9432041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C99A8A-88E7-49AF-9AEC-06DEEDD63EE3}"/>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Kết luận và bước kiểm chứng tiếp theo</a:t>
            </a:r>
          </a:p>
        </p:txBody>
      </p:sp>
      <p:sp>
        <p:nvSpPr>
          <p:cNvPr id="2" name="">
            <a:extLst xmlns:a="http://schemas.openxmlformats.org/drawingml/2006/main">
              <a:ext uri="{FF2B5EF4-FFF2-40B4-BE49-F238E27FC236}">
                <a16:creationId xmlns:a16="http://schemas.microsoft.com/office/drawing/2014/main" id="{BB94318D-8103-49B8-869F-07D53BAAAF5A}"/>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Nguồn: tổng hợp báo cáo tuần 3–4 và source. Kế hoạch chưa ghi nhận hoàn thành.</a:t>
            </a:r>
          </a:p>
        </p:txBody>
      </p:sp>
      <p:sp>
        <p:nvSpPr>
          <p:cNvPr id="3" name="">
            <a:extLst xmlns:a="http://schemas.openxmlformats.org/drawingml/2006/main">
              <a:ext uri="{FF2B5EF4-FFF2-40B4-BE49-F238E27FC236}">
                <a16:creationId xmlns:a16="http://schemas.microsoft.com/office/drawing/2014/main" id="{FE478B49-9EFA-46FA-911E-8C596126A052}"/>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17</a:t>
            </a:r>
          </a:p>
        </p:txBody>
      </p:sp>
      <p:sp>
        <p:nvSpPr>
          <p:cNvPr id="4" name="">
            <a:extLst xmlns:a="http://schemas.openxmlformats.org/drawingml/2006/main">
              <a:ext uri="{FF2B5EF4-FFF2-40B4-BE49-F238E27FC236}">
                <a16:creationId xmlns:a16="http://schemas.microsoft.com/office/drawing/2014/main" id="{48C6B601-2F7B-48C6-9EAD-9BD9458A74EA}"/>
              </a:ext>
            </a:extLst>
          </p:cNvPr>
          <p:cNvSpPr>
            <a:spLocks xmlns:a="http://schemas.openxmlformats.org/drawingml/2006/main" noGrp="1"/>
          </p:cNvSpPr>
          <p:nvPr/>
        </p:nvSpPr>
        <p:spPr>
          <a:xfrm xmlns:a="http://schemas.openxmlformats.org/drawingml/2006/main">
            <a:off x="609600" y="1657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08F8C"/>
                </a:solidFill>
                <a:latin typeface="DejaVu Sans"/>
                <a:ea typeface="DejaVu Sans"/>
                <a:cs typeface="DejaVu Sans"/>
              </a:defRPr>
            </a:defPPr>
          </a:lstStyle>
          <a:p xmlns:a="http://schemas.openxmlformats.org/drawingml/2006/main">
            <a:pPr>
              <a:defRPr sz="2700" b="1">
                <a:solidFill>
                  <a:srgbClr val="008F8C"/>
                </a:solidFill>
                <a:latin typeface="DejaVu Sans"/>
                <a:ea typeface="DejaVu Sans"/>
                <a:cs typeface="DejaVu Sans"/>
              </a:defRPr>
            </a:pPr>
            <a:r>
              <a:rPr sz="2700" b="1">
                <a:solidFill>
                  <a:srgbClr val="008F8C"/>
                </a:solidFill>
                <a:latin typeface="DejaVu Sans"/>
                <a:ea typeface="DejaVu Sans"/>
                <a:cs typeface="DejaVu Sans"/>
              </a:rPr>
              <a:t>Giữ mô hình mới và prediction gốc</a:t>
            </a:r>
          </a:p>
        </p:txBody>
      </p:sp>
      <p:graphicFrame>
        <p:nvGraphicFramePr>
          <p:cNvPr id="5" name="">
            <a:extLst xmlns:a="http://schemas.openxmlformats.org/drawingml/2006/main">
              <a:ext uri="{FF2B5EF4-FFF2-40B4-BE49-F238E27FC236}">
                <a16:creationId xmlns:a16="http://schemas.microsoft.com/office/drawing/2014/main" id="{FC895E84-EE18-478A-8C91-7E9EA36D3202}"/>
              </a:ext>
            </a:extLst>
          </p:cNvPr>
          <p:cNvGraphicFramePr/>
          <p:nvPr/>
        </p:nvGraphicFramePr>
        <p:xfrm>
          <a:off xmlns:a="http://schemas.openxmlformats.org/drawingml/2006/main" x="609600" y="2695575"/>
          <a:ext xmlns:a="http://schemas.openxmlformats.org/drawingml/2006/main" cx="10972800" cy="2714625"/>
        </p:xfrm>
        <a:graphic xmlns:a="http://schemas.openxmlformats.org/drawingml/2006/main">
          <a:graphicData uri="http://schemas.openxmlformats.org/drawingml/2006/table">
            <a:tbl>
              <a:tblPr/>
              <a:tblGrid>
                <a:gridCol w="3476625"/>
                <a:gridCol w="7496175"/>
              </a:tblGrid>
              <a:tr h="542925">
                <a:tc>
                  <a:txBody>
                    <a:bodyPr/>
                    <a:lstStyle/>
                    <a:p>
                      <a:r>
                        <a:rPr sz="1800" b="1">
                          <a:solidFill>
                            <a:srgbClr val="FFFFFF"/>
                          </a:solidFill>
                          <a:latin typeface="DejaVu Sans"/>
                          <a:ea typeface="DejaVu Sans"/>
                          <a:cs typeface="DejaVu Sans"/>
                        </a:rPr>
                        <a:t>Ưu tiên</a:t>
                      </a:r>
                    </a:p>
                  </a:txBody>
                  <a:tcPr marL="91440" marR="91440" marT="45720" marB="45720">
                    <a:solidFill>
                      <a:srgbClr val="17343C"/>
                    </a:solidFill>
                  </a:tcPr>
                </a:tc>
                <a:tc>
                  <a:txBody>
                    <a:bodyPr/>
                    <a:lstStyle/>
                    <a:p>
                      <a:r>
                        <a:rPr sz="1800" b="1">
                          <a:solidFill>
                            <a:srgbClr val="FFFFFF"/>
                          </a:solidFill>
                          <a:latin typeface="DejaVu Sans"/>
                          <a:ea typeface="DejaVu Sans"/>
                          <a:cs typeface="DejaVu Sans"/>
                        </a:rPr>
                        <a:t>Bằng chứng cần có</a:t>
                      </a:r>
                    </a:p>
                  </a:txBody>
                  <a:tcPr marL="91440" marR="91440" marT="45720" marB="45720">
                    <a:solidFill>
                      <a:srgbClr val="17343C"/>
                    </a:solidFill>
                  </a:tcPr>
                </a:tc>
              </a:tr>
              <a:tr h="542925">
                <a:tc>
                  <a:txBody>
                    <a:bodyPr/>
                    <a:lstStyle/>
                    <a:p>
                      <a:r>
                        <a:rPr sz="1800" b="0">
                          <a:solidFill>
                            <a:srgbClr val="17343C"/>
                          </a:solidFill>
                          <a:latin typeface="DejaVu Sans"/>
                          <a:ea typeface="DejaVu Sans"/>
                          <a:cs typeface="DejaVu Sans"/>
                        </a:rPr>
                        <a:t>Độ phủ dữ liệu</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Expected/observed theo từng hex và bucket</a:t>
                      </a:r>
                    </a:p>
                  </a:txBody>
                  <a:tcPr marL="91440" marR="91440" marT="45720" marB="45720">
                    <a:solidFill>
                      <a:srgbClr val="FFFFFF"/>
                    </a:solidFill>
                  </a:tcPr>
                </a:tc>
              </a:tr>
              <a:tr h="542925">
                <a:tc>
                  <a:txBody>
                    <a:bodyPr/>
                    <a:lstStyle/>
                    <a:p>
                      <a:r>
                        <a:rPr sz="1800" b="0">
                          <a:solidFill>
                            <a:srgbClr val="17343C"/>
                          </a:solidFill>
                          <a:latin typeface="DejaVu Sans"/>
                          <a:ea typeface="DejaVu Sans"/>
                          <a:cs typeface="DejaVu Sans"/>
                        </a:rPr>
                        <a:t>Điều kiện đủ mốc</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Sửa G01, cửa sổ 4/6 mốc không báo đủ</a:t>
                      </a:r>
                    </a:p>
                  </a:txBody>
                  <a:tcPr marL="91440" marR="91440" marT="45720" marB="45720">
                    <a:solidFill>
                      <a:srgbClr val="EDF5F4"/>
                    </a:solidFill>
                  </a:tcPr>
                </a:tc>
              </a:tr>
              <a:tr h="542925">
                <a:tc>
                  <a:txBody>
                    <a:bodyPr/>
                    <a:lstStyle/>
                    <a:p>
                      <a:r>
                        <a:rPr sz="1800" b="0">
                          <a:solidFill>
                            <a:srgbClr val="17343C"/>
                          </a:solidFill>
                          <a:latin typeface="DejaVu Sans"/>
                          <a:ea typeface="DejaVu Sans"/>
                          <a:cs typeface="DejaVu Sans"/>
                        </a:rPr>
                        <a:t>Vận hành liên tục</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24–48 giờ và cảnh báo pending/firing/resolved</a:t>
                      </a:r>
                    </a:p>
                  </a:txBody>
                  <a:tcPr marL="91440" marR="91440" marT="45720" marB="45720">
                    <a:solidFill>
                      <a:srgbClr val="FFFFFF"/>
                    </a:solidFill>
                  </a:tcPr>
                </a:tc>
              </a:tr>
              <a:tr h="542925">
                <a:tc>
                  <a:txBody>
                    <a:bodyPr/>
                    <a:lstStyle/>
                    <a:p>
                      <a:r>
                        <a:rPr sz="1800" b="0">
                          <a:solidFill>
                            <a:srgbClr val="17343C"/>
                          </a:solidFill>
                          <a:latin typeface="DejaVu Sans"/>
                          <a:ea typeface="DejaVu Sans"/>
                          <a:cs typeface="DejaVu Sans"/>
                        </a:rPr>
                        <a:t>Đánh giá giai đoạn mới</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Cùng hậu xử lý, kiểm tra peak và shock</a:t>
                      </a:r>
                    </a:p>
                  </a:txBody>
                  <a:tcPr marL="91440" marR="91440" marT="45720" marB="45720">
                    <a:solidFill>
                      <a:srgbClr val="EDF5F4"/>
                    </a:solidFill>
                  </a:tcPr>
                </a:tc>
              </a:tr>
            </a:tbl>
          </a:graphicData>
        </a:graphic>
      </p:graphicFrame>
      <p:sp>
        <p:nvSpPr>
          <p:cNvPr id="6" name="">
            <a:extLst xmlns:a="http://schemas.openxmlformats.org/drawingml/2006/main">
              <a:ext uri="{FF2B5EF4-FFF2-40B4-BE49-F238E27FC236}">
                <a16:creationId xmlns:a16="http://schemas.microsoft.com/office/drawing/2014/main" id="{42932988-B643-49AC-BFFA-3BDA651BA80D}"/>
              </a:ext>
            </a:extLst>
          </p:cNvPr>
          <p:cNvSpPr>
            <a:spLocks xmlns:a="http://schemas.openxmlformats.org/drawingml/2006/main" noGrp="1"/>
          </p:cNvSpPr>
          <p:nvPr/>
        </p:nvSpPr>
        <p:spPr>
          <a:xfrm xmlns:a="http://schemas.openxmlformats.org/drawingml/2006/main">
            <a:off x="609600" y="5638800"/>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343C"/>
                </a:solidFill>
                <a:latin typeface="DejaVu Sans"/>
                <a:ea typeface="DejaVu Sans"/>
                <a:cs typeface="DejaVu Sans"/>
              </a:defRPr>
            </a:defPPr>
          </a:lstStyle>
          <a:p xmlns:a="http://schemas.openxmlformats.org/drawingml/2006/main">
            <a:pPr>
              <a:defRPr sz="2025" b="1">
                <a:solidFill>
                  <a:srgbClr val="17343C"/>
                </a:solidFill>
                <a:latin typeface="DejaVu Sans"/>
                <a:ea typeface="DejaVu Sans"/>
                <a:cs typeface="DejaVu Sans"/>
              </a:defRPr>
            </a:pPr>
            <a:r>
              <a:rPr sz="2025" b="1">
                <a:solidFill>
                  <a:srgbClr val="17343C"/>
                </a:solidFill>
                <a:latin typeface="DejaVu Sans"/>
                <a:ea typeface="DejaVu Sans"/>
                <a:cs typeface="DejaVu Sans"/>
              </a:rPr>
              <a:t>Phạm vi hiện tại là giả lập. Chưa kết luận sẵn sàng production.</a:t>
            </a:r>
          </a:p>
        </p:txBody>
      </p:sp>
    </p:spTree>
    <p:extLst>
      <p:ext uri="{BB962C8B-B14F-4D97-AF65-F5344CB8AC3E}">
        <p14:creationId xmlns:p14="http://schemas.microsoft.com/office/powerpoint/2010/main" val="68115126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12FAD7-EDEC-4167-9E71-3F411EB46FAB}"/>
              </a:ext>
            </a:extLst>
          </p:cNvPr>
          <p:cNvSpPr>
            <a:spLocks xmlns:a="http://schemas.openxmlformats.org/drawingml/2006/main" noGrp="1"/>
          </p:cNvSpPr>
          <p:nvPr/>
        </p:nvSpPr>
        <p:spPr>
          <a:xfrm xmlns:a="http://schemas.openxmlformats.org/drawingml/2006/main">
            <a:off x="609600" y="3810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43C"/>
                </a:solidFill>
                <a:latin typeface="DejaVu Sans"/>
                <a:ea typeface="DejaVu Sans"/>
                <a:cs typeface="DejaVu Sans"/>
              </a:defRPr>
            </a:defPPr>
          </a:lstStyle>
          <a:p xmlns:a="http://schemas.openxmlformats.org/drawingml/2006/main">
            <a:pPr>
              <a:defRPr sz="3225" b="1">
                <a:solidFill>
                  <a:srgbClr val="17343C"/>
                </a:solidFill>
                <a:latin typeface="DejaVu Sans"/>
                <a:ea typeface="DejaVu Sans"/>
                <a:cs typeface="DejaVu Sans"/>
              </a:defRPr>
            </a:pPr>
            <a:r>
              <a:rPr sz="3225" b="1">
                <a:solidFill>
                  <a:srgbClr val="17343C"/>
                </a:solidFill>
                <a:latin typeface="DejaVu Sans"/>
                <a:ea typeface="DejaVu Sans"/>
                <a:cs typeface="DejaVu Sans"/>
              </a:rPr>
              <a:t>Nguồn số liệu và phạm vi sử dụng</a:t>
            </a:r>
          </a:p>
        </p:txBody>
      </p:sp>
      <p:sp>
        <p:nvSpPr>
          <p:cNvPr id="2" name="">
            <a:extLst xmlns:a="http://schemas.openxmlformats.org/drawingml/2006/main">
              <a:ext uri="{FF2B5EF4-FFF2-40B4-BE49-F238E27FC236}">
                <a16:creationId xmlns:a16="http://schemas.microsoft.com/office/drawing/2014/main" id="{A878DBA6-EE29-4FB1-9113-DB05DEE152B2}"/>
              </a:ext>
            </a:extLst>
          </p:cNvPr>
          <p:cNvSpPr>
            <a:spLocks xmlns:a="http://schemas.openxmlformats.org/drawingml/2006/main" noGrp="1"/>
          </p:cNvSpPr>
          <p:nvPr/>
        </p:nvSpPr>
        <p:spPr>
          <a:xfrm xmlns:a="http://schemas.openxmlformats.org/drawingml/2006/main">
            <a:off x="609600" y="62293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7D"/>
                </a:solidFill>
                <a:latin typeface="DejaVu Sans"/>
                <a:ea typeface="DejaVu Sans"/>
                <a:cs typeface="DejaVu Sans"/>
              </a:defRPr>
            </a:defPPr>
          </a:lstStyle>
          <a:p xmlns:a="http://schemas.openxmlformats.org/drawingml/2006/main">
            <a:pPr>
              <a:defRPr sz="1200" b="0">
                <a:solidFill>
                  <a:srgbClr val="65757D"/>
                </a:solidFill>
                <a:latin typeface="DejaVu Sans"/>
                <a:ea typeface="DejaVu Sans"/>
                <a:cs typeface="DejaVu Sans"/>
              </a:defRPr>
            </a:pPr>
            <a:r>
              <a:rPr sz="1200" b="0">
                <a:solidFill>
                  <a:srgbClr val="65757D"/>
                </a:solidFill>
                <a:latin typeface="DejaVu Sans"/>
                <a:ea typeface="DejaVu Sans"/>
                <a:cs typeface="DejaVu Sans"/>
              </a:rPr>
              <a:t>Báo cáo và slide tổng hợp ngày 11/10/2026.</a:t>
            </a:r>
          </a:p>
        </p:txBody>
      </p:sp>
      <p:sp>
        <p:nvSpPr>
          <p:cNvPr id="3" name="">
            <a:extLst xmlns:a="http://schemas.openxmlformats.org/drawingml/2006/main">
              <a:ext uri="{FF2B5EF4-FFF2-40B4-BE49-F238E27FC236}">
                <a16:creationId xmlns:a16="http://schemas.microsoft.com/office/drawing/2014/main" id="{93E05F7E-C84A-4A00-8B54-34EBEB5BC65A}"/>
              </a:ext>
            </a:extLst>
          </p:cNvPr>
          <p:cNvSpPr>
            <a:spLocks xmlns:a="http://schemas.openxmlformats.org/drawingml/2006/main" noGrp="1"/>
          </p:cNvSpPr>
          <p:nvPr/>
        </p:nvSpPr>
        <p:spPr>
          <a:xfrm xmlns:a="http://schemas.openxmlformats.org/drawingml/2006/main">
            <a:off x="11220450" y="62293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57D"/>
                </a:solidFill>
                <a:latin typeface="DejaVu Sans"/>
                <a:ea typeface="DejaVu Sans"/>
                <a:cs typeface="DejaVu Sans"/>
              </a:defRPr>
            </a:defPPr>
          </a:lstStyle>
          <a:p xmlns:a="http://schemas.openxmlformats.org/drawingml/2006/main">
            <a:pPr>
              <a:defRPr sz="1275" b="0">
                <a:solidFill>
                  <a:srgbClr val="65757D"/>
                </a:solidFill>
                <a:latin typeface="DejaVu Sans"/>
                <a:ea typeface="DejaVu Sans"/>
                <a:cs typeface="DejaVu Sans"/>
              </a:defRPr>
            </a:pPr>
            <a:r>
              <a:rPr sz="1275" b="0">
                <a:solidFill>
                  <a:srgbClr val="65757D"/>
                </a:solidFill>
                <a:latin typeface="DejaVu Sans"/>
                <a:ea typeface="DejaVu Sans"/>
                <a:cs typeface="DejaVu Sans"/>
              </a:rPr>
              <a:t>18</a:t>
            </a:r>
          </a:p>
        </p:txBody>
      </p:sp>
      <p:graphicFrame>
        <p:nvGraphicFramePr>
          <p:cNvPr id="4" name="">
            <a:extLst xmlns:a="http://schemas.openxmlformats.org/drawingml/2006/main">
              <a:ext uri="{FF2B5EF4-FFF2-40B4-BE49-F238E27FC236}">
                <a16:creationId xmlns:a16="http://schemas.microsoft.com/office/drawing/2014/main" id="{A63849DF-9F7C-4B99-B840-6D05CD82AFD5}"/>
              </a:ext>
            </a:extLst>
          </p:cNvPr>
          <p:cNvGraphicFramePr/>
          <p:nvPr/>
        </p:nvGraphicFramePr>
        <p:xfrm>
          <a:off xmlns:a="http://schemas.openxmlformats.org/drawingml/2006/main" x="609600" y="1571625"/>
          <a:ext xmlns:a="http://schemas.openxmlformats.org/drawingml/2006/main" cx="10972800" cy="3238500"/>
        </p:xfrm>
        <a:graphic xmlns:a="http://schemas.openxmlformats.org/drawingml/2006/main">
          <a:graphicData uri="http://schemas.openxmlformats.org/drawingml/2006/table">
            <a:tbl>
              <a:tblPr/>
              <a:tblGrid>
                <a:gridCol w="4667250"/>
                <a:gridCol w="6305550"/>
              </a:tblGrid>
              <a:tr h="539750">
                <a:tc>
                  <a:txBody>
                    <a:bodyPr/>
                    <a:lstStyle/>
                    <a:p>
                      <a:r>
                        <a:rPr sz="1800" b="1">
                          <a:solidFill>
                            <a:srgbClr val="FFFFFF"/>
                          </a:solidFill>
                          <a:latin typeface="DejaVu Sans"/>
                          <a:ea typeface="DejaVu Sans"/>
                          <a:cs typeface="DejaVu Sans"/>
                        </a:rPr>
                        <a:t>Nguồn</a:t>
                      </a:r>
                    </a:p>
                  </a:txBody>
                  <a:tcPr marL="91440" marR="91440" marT="45720" marB="45720">
                    <a:solidFill>
                      <a:srgbClr val="17343C"/>
                    </a:solidFill>
                  </a:tcPr>
                </a:tc>
                <a:tc>
                  <a:txBody>
                    <a:bodyPr/>
                    <a:lstStyle/>
                    <a:p>
                      <a:r>
                        <a:rPr sz="1800" b="1">
                          <a:solidFill>
                            <a:srgbClr val="FFFFFF"/>
                          </a:solidFill>
                          <a:latin typeface="DejaVu Sans"/>
                          <a:ea typeface="DejaVu Sans"/>
                          <a:cs typeface="DejaVu Sans"/>
                        </a:rPr>
                        <a:t>Nội dung</a:t>
                      </a:r>
                    </a:p>
                  </a:txBody>
                  <a:tcPr marL="91440" marR="91440" marT="45720" marB="45720">
                    <a:solidFill>
                      <a:srgbClr val="17343C"/>
                    </a:solidFill>
                  </a:tcPr>
                </a:tc>
              </a:tr>
              <a:tr h="539750">
                <a:tc>
                  <a:txBody>
                    <a:bodyPr/>
                    <a:lstStyle/>
                    <a:p>
                      <a:r>
                        <a:rPr sz="1800" b="0">
                          <a:solidFill>
                            <a:srgbClr val="17343C"/>
                          </a:solidFill>
                          <a:latin typeface="DejaVu Sans"/>
                          <a:ea typeface="DejaVu Sans"/>
                          <a:cs typeface="DejaVu Sans"/>
                        </a:rPr>
                        <a:t>Báo cáo tuần 1–2</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Bài toán, dữ liệu, thử nghiệm ban đầu</a:t>
                      </a:r>
                    </a:p>
                  </a:txBody>
                  <a:tcPr marL="91440" marR="91440" marT="45720" marB="45720">
                    <a:solidFill>
                      <a:srgbClr val="FFFFFF"/>
                    </a:solidFill>
                  </a:tcPr>
                </a:tc>
              </a:tr>
              <a:tr h="539750">
                <a:tc>
                  <a:txBody>
                    <a:bodyPr/>
                    <a:lstStyle/>
                    <a:p>
                      <a:r>
                        <a:rPr sz="1800" b="0">
                          <a:solidFill>
                            <a:srgbClr val="17343C"/>
                          </a:solidFill>
                          <a:latin typeface="DejaVu Sans"/>
                          <a:ea typeface="DejaVu Sans"/>
                          <a:cs typeface="DejaVu Sans"/>
                        </a:rPr>
                        <a:t>Báo cáo tuần 3, bản 07/10</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Đối chứng mô hình, trend, peak và shock</a:t>
                      </a:r>
                    </a:p>
                  </a:txBody>
                  <a:tcPr marL="91440" marR="91440" marT="45720" marB="45720">
                    <a:solidFill>
                      <a:srgbClr val="EDF5F4"/>
                    </a:solidFill>
                  </a:tcPr>
                </a:tc>
              </a:tr>
              <a:tr h="539750">
                <a:tc>
                  <a:txBody>
                    <a:bodyPr/>
                    <a:lstStyle/>
                    <a:p>
                      <a:r>
                        <a:rPr sz="1800" b="0">
                          <a:solidFill>
                            <a:srgbClr val="17343C"/>
                          </a:solidFill>
                          <a:latin typeface="DejaVu Sans"/>
                          <a:ea typeface="DejaVu Sans"/>
                          <a:cs typeface="DejaVu Sans"/>
                        </a:rPr>
                        <a:t>hieuchinh (1).ipynb</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TRAIN_ONLY và thống kê actual &gt;30</a:t>
                      </a:r>
                    </a:p>
                  </a:txBody>
                  <a:tcPr marL="91440" marR="91440" marT="45720" marB="45720">
                    <a:solidFill>
                      <a:srgbClr val="FFFFFF"/>
                    </a:solidFill>
                  </a:tcPr>
                </a:tc>
              </a:tr>
              <a:tr h="539750">
                <a:tc>
                  <a:txBody>
                    <a:bodyPr/>
                    <a:lstStyle/>
                    <a:p>
                      <a:r>
                        <a:rPr sz="1800" b="0">
                          <a:solidFill>
                            <a:srgbClr val="17343C"/>
                          </a:solidFill>
                          <a:latin typeface="DejaVu Sans"/>
                          <a:ea typeface="DejaVu Sans"/>
                          <a:cs typeface="DejaVu Sans"/>
                        </a:rPr>
                        <a:t>demand_forecasting(2).zip</a:t>
                      </a:r>
                    </a:p>
                  </a:txBody>
                  <a:tcPr marL="91440" marR="91440" marT="45720" marB="45720">
                    <a:solidFill>
                      <a:srgbClr val="EDF5F4"/>
                    </a:solidFill>
                  </a:tcPr>
                </a:tc>
                <a:tc>
                  <a:txBody>
                    <a:bodyPr/>
                    <a:lstStyle/>
                    <a:p>
                      <a:r>
                        <a:rPr sz="1800" b="0">
                          <a:solidFill>
                            <a:srgbClr val="17343C"/>
                          </a:solidFill>
                          <a:latin typeface="DejaVu Sans"/>
                          <a:ea typeface="DejaVu Sans"/>
                          <a:cs typeface="DejaVu Sans"/>
                        </a:rPr>
                        <a:t>Pipeline, cấu hình và monitoring</a:t>
                      </a:r>
                    </a:p>
                  </a:txBody>
                  <a:tcPr marL="91440" marR="91440" marT="45720" marB="45720">
                    <a:solidFill>
                      <a:srgbClr val="EDF5F4"/>
                    </a:solidFill>
                  </a:tcPr>
                </a:tc>
              </a:tr>
              <a:tr h="539750">
                <a:tc>
                  <a:txBody>
                    <a:bodyPr/>
                    <a:lstStyle/>
                    <a:p>
                      <a:r>
                        <a:rPr sz="1800" b="0">
                          <a:solidFill>
                            <a:srgbClr val="17343C"/>
                          </a:solidFill>
                          <a:latin typeface="DejaVu Sans"/>
                          <a:ea typeface="DejaVu Sans"/>
                          <a:cs typeface="DejaVu Sans"/>
                        </a:rPr>
                        <a:t>Báo cáo tuần 4, bản 09/10</a:t>
                      </a:r>
                    </a:p>
                  </a:txBody>
                  <a:tcPr marL="91440" marR="91440" marT="45720" marB="45720">
                    <a:solidFill>
                      <a:srgbClr val="FFFFFF"/>
                    </a:solidFill>
                  </a:tcPr>
                </a:tc>
                <a:tc>
                  <a:txBody>
                    <a:bodyPr/>
                    <a:lstStyle/>
                    <a:p>
                      <a:r>
                        <a:rPr sz="1800" b="0">
                          <a:solidFill>
                            <a:srgbClr val="17343C"/>
                          </a:solidFill>
                          <a:latin typeface="DejaVu Sans"/>
                          <a:ea typeface="DejaVu Sans"/>
                          <a:cs typeface="DejaVu Sans"/>
                        </a:rPr>
                        <a:t>Snapshot vận hành và kết quả kiểm thử</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CA50CD5-BBE2-42F3-8869-EA0B8B89BFF1}"/>
              </a:ext>
            </a:extLst>
          </p:cNvPr>
          <p:cNvSpPr>
            <a:spLocks xmlns:a="http://schemas.openxmlformats.org/drawingml/2006/main" noGrp="1"/>
          </p:cNvSpPr>
          <p:nvPr/>
        </p:nvSpPr>
        <p:spPr>
          <a:xfrm xmlns:a="http://schemas.openxmlformats.org/drawingml/2006/main">
            <a:off x="609600" y="52578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343C"/>
                </a:solidFill>
                <a:latin typeface="DejaVu Sans"/>
                <a:ea typeface="DejaVu Sans"/>
                <a:cs typeface="DejaVu Sans"/>
              </a:defRPr>
            </a:defPPr>
          </a:lstStyle>
          <a:p xmlns:a="http://schemas.openxmlformats.org/drawingml/2006/main">
            <a:pPr>
              <a:defRPr sz="1950" b="0">
                <a:solidFill>
                  <a:srgbClr val="17343C"/>
                </a:solidFill>
                <a:latin typeface="DejaVu Sans"/>
                <a:ea typeface="DejaVu Sans"/>
                <a:cs typeface="DejaVu Sans"/>
              </a:defRPr>
            </a:pPr>
            <a:r>
              <a:rPr sz="1950" b="0">
                <a:solidFill>
                  <a:srgbClr val="17343C"/>
                </a:solidFill>
                <a:latin typeface="DejaVu Sans"/>
                <a:ea typeface="DejaVu Sans"/>
                <a:cs typeface="DejaVu Sans"/>
              </a:rPr>
              <a:t>Các bảng offline, demand &gt;30 và serving thuộc những phạm vi khác nhau.</a:t>
            </a:r>
          </a:p>
          <a:p xmlns:a="http://schemas.openxmlformats.org/drawingml/2006/main">
            <a:pPr>
              <a:defRPr sz="1950" b="0">
                <a:solidFill>
                  <a:srgbClr val="17343C"/>
                </a:solidFill>
                <a:latin typeface="DejaVu Sans"/>
                <a:ea typeface="DejaVu Sans"/>
                <a:cs typeface="DejaVu Sans"/>
              </a:defRPr>
            </a:pPr>
            <a:r>
              <a:rPr sz="1950" b="0">
                <a:solidFill>
                  <a:srgbClr val="17343C"/>
                </a:solidFill>
                <a:latin typeface="DejaVu Sans"/>
                <a:ea typeface="DejaVu Sans"/>
                <a:cs typeface="DejaVu Sans"/>
              </a:rPr>
              <a:t>Kết quả không thay thế kiểm chứng trên dữ liệu GSM thực tế.</a:t>
            </a:r>
          </a:p>
        </p:txBody>
      </p:sp>
    </p:spTree>
    <p:extLst>
      <p:ext uri="{BB962C8B-B14F-4D97-AF65-F5344CB8AC3E}">
        <p14:creationId xmlns:p14="http://schemas.microsoft.com/office/powerpoint/2010/main" val="10465127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2026-10-11T17:01:10.9470000Z</dcterms:created>
  <dcterms:modified xsi:type="dcterms:W3CDTF">2026-10-11T17:01:10.9470000Z</dcterms:modified>
</coreProperties>
</file>